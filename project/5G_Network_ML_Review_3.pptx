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(Presenter 1):</a:t>
            </a:r>
          </a:p>
          <a:p>
            <a:r>
              <a:t>Good morning respected evaluators. Welcome to our Review 3 presentation for the project '5G Network Quality &amp; Connection Drop Prediction'.</a:t>
            </a:r>
          </a:p>
          <a:p>
            <a:r>
              <a:t>In this review, our team presents the end-to-end Machine Learning pipeline addressing all six required criteria:</a:t>
            </a:r>
          </a:p>
          <a:p>
            <a:r>
              <a:t>1. Data Understanding and feature taxonomy</a:t>
            </a:r>
          </a:p>
          <a:p>
            <a:r>
              <a:t>2. Data Cleaning and imputation</a:t>
            </a:r>
          </a:p>
          <a:p>
            <a:r>
              <a:t>3. Statistical Checks for normality and outliers</a:t>
            </a:r>
          </a:p>
          <a:p>
            <a:r>
              <a:t>4. Data Preprocessing with mathematical scaling justifications</a:t>
            </a:r>
          </a:p>
          <a:p>
            <a:r>
              <a:t>5. Model Building across diverse linear and tree ensemble architectures</a:t>
            </a:r>
          </a:p>
          <a:p>
            <a:r>
              <a:t>6. Model Analysis, performance metrics, and operational findings.</a:t>
            </a:r>
          </a:p>
          <a:p>
            <a:r>
              <a:t>Every team member has prepared their respective section. I will begin with Data Understanding and Cleaning.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(Presenter 1):</a:t>
            </a:r>
          </a:p>
          <a:p>
            <a:r>
              <a:t>As required, every team member has a dedicated speaking role covering their specific technical contribution:</a:t>
            </a:r>
          </a:p>
          <a:p>
            <a:r>
              <a:t>- I (Presenter 1) will cover Sections 1 and 2: Data Understanding and Cleaning.</a:t>
            </a:r>
          </a:p>
          <a:p>
            <a:r>
              <a:t>- Presenter 2 will deliver Section 3: Statistical Checks on normality, kurtosis, and outliers.</a:t>
            </a:r>
          </a:p>
          <a:p>
            <a:r>
              <a:t>- Presenter 3 will present Section 4: Data Preprocessing and scaling justifications.</a:t>
            </a:r>
          </a:p>
          <a:p>
            <a:r>
              <a:t>- Presenter 4 will present Sections 5 and 6: Model Building, evaluation metrics, confusion matrices, and final operational findings.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(Presenter 1):</a:t>
            </a:r>
          </a:p>
          <a:p>
            <a:r>
              <a:t>In Section 1, Data Understanding, we examined 50,000 network session rows.</a:t>
            </a:r>
          </a:p>
          <a:p>
            <a:r>
              <a:t>Crucially, our target variable, 'Dropped Connection', exhibits an almost exact 50-50 balance—50.06% drops versus 49.94% maintained connections. This means standard cost functions will not suffer from majority-class distortion.</a:t>
            </a:r>
          </a:p>
          <a:p>
            <a:r>
              <a:t>On the right, you can see the breakdown of feature types: 8 continuous numerical variables measuring radio physical properties, 5 nominal categoricals like location and carrier, 3 discrete integer counts, 2 ordinals, and 2 booleans.</a:t>
            </a:r>
          </a:p>
          <a:p>
            <a:r>
              <a:t>We identified Timestamp as a session ID with 50,000 unique values, which must be dropped prior to modeling.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(Presenter 1):</a:t>
            </a:r>
          </a:p>
          <a:p>
            <a:r>
              <a:t>This taxonomy table maps every variable to its physical telecommunications role and mathematical scale:</a:t>
            </a:r>
          </a:p>
          <a:p>
            <a:r>
              <a:t>- Signal Strength, Latency, and Jitter represent continuous physical layer metrics.</a:t>
            </a:r>
          </a:p>
          <a:p>
            <a:r>
              <a:t>- Network Type captures 4G versus 5G Standalone and Non-Standalone architectures.</a:t>
            </a:r>
          </a:p>
          <a:p>
            <a:r>
              <a:t>- Congestion Level is inherently ordinal with ordered rank: Low is less than Medium which is less than High.</a:t>
            </a:r>
          </a:p>
          <a:p>
            <a:r>
              <a:t>- Video Streaming Quality is a discrete 1-to-5 scale.</a:t>
            </a:r>
          </a:p>
          <a:p>
            <a:r>
              <a:t>This formal categorization dictates how we clean, scale, and encode every column in downstream steps.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(Presenter 1):</a:t>
            </a:r>
          </a:p>
          <a:p>
            <a:r>
              <a:t>In Section 2, Data Cleaning, our audit confirmed zero duplicate rows and zero raw missing values.</a:t>
            </a:r>
          </a:p>
          <a:p>
            <a:r>
              <a:t>However, to build a resilient, production-ready pipeline, we established a clear imputation protocol:</a:t>
            </a:r>
          </a:p>
          <a:p>
            <a:r>
              <a:t>- Continuous variables are imputed with the Median because it is non-parametric and resistant to skewness.</a:t>
            </a:r>
          </a:p>
          <a:p>
            <a:r>
              <a:t>- Categorical features are imputed with the Mode.</a:t>
            </a:r>
          </a:p>
          <a:p>
            <a:r>
              <a:t>- We deliberately avoid dropping rows to prevent survivorship bias.</a:t>
            </a:r>
          </a:p>
          <a:p>
            <a:r>
              <a:t>Finally, we pruned the Timestamp column, leaving us with a clean 50,000 by 20 matrix. I will now hand over to Presenter 2 for Statistical Checks.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(Presenter 2):</a:t>
            </a:r>
          </a:p>
          <a:p>
            <a:r>
              <a:t>Thank you. In Section 3, we performed rigorous statistical tests for normality.</a:t>
            </a:r>
          </a:p>
          <a:p>
            <a:r>
              <a:t>We formulated our null hypothesis that the features follow a Gaussian normal distribution.</a:t>
            </a:r>
          </a:p>
          <a:p>
            <a:r>
              <a:t>Using the Shapiro-Wilk test on sample size N=5000, every numeric feature yielded a p-value on the order of 10^-36 to 10^-38. Since p is far less than alpha 0.05, we decisively reject H0.</a:t>
            </a:r>
          </a:p>
          <a:p>
            <a:r>
              <a:t>Importantly, notice the higher-order moments on the right: skewness is nearly 0, but excess kurtosis is consistently -1.20. In statistics, -1.20 is the exact theoretical excess kurtosis of a continuous uniform distribution U(a, b). This proves that the features are uniformly bounded, which our Q-Q plots verify.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(Presenter 2):</a:t>
            </a:r>
          </a:p>
          <a:p>
            <a:r>
              <a:t>Here on the left, our Histograms and Normal Q-Q plots clearly demonstrate the uniform distribution signature. Notice how the data points in the Q-Q plot deviate from the 45-degree red reference line in an S-curve at both tails, which is classic behavior for bounded uniform data.</a:t>
            </a:r>
          </a:p>
          <a:p>
            <a:r>
              <a:t>On the right, we evaluated outliers using Tukey’s 1.5 IQR rule. Zero outliers were detected because the IQR fences mathematically extend well beyond the minimum and maximum boundaries of a uniform distribution.</a:t>
            </a:r>
          </a:p>
          <a:p>
            <a:r>
              <a:t>For production handling, our code implements Winsorization and clipping to ensure that live operational spikes do not disrupt model training. I will now hand over to Presenter 3 for Preprocessing.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(Presenter 3):</a:t>
            </a:r>
          </a:p>
          <a:p>
            <a:r>
              <a:t>Thank you. Section 4 addresses Data Preprocessing, specifically justifying Standardization versus Normalization.</a:t>
            </a:r>
          </a:p>
          <a:p>
            <a:r>
              <a:t>Standardization rescales features to have zero mean and unit variance using z = (x - mu)/sigma. This is essential for Logistic Regression because unscaled features cause elliptical loss contours that slow down gradient descent.</a:t>
            </a:r>
          </a:p>
          <a:p>
            <a:r>
              <a:t>Normalization squashes features between 0 and 1, which is critical for distance-based models like k-NN.</a:t>
            </a:r>
          </a:p>
          <a:p>
            <a:r>
              <a:t>Importantly, tree-based models like Random Forest and Gradient Boosting are completely invariant to monotonic feature scaling because node splits depend solely on threshold rank order.</a:t>
            </a:r>
          </a:p>
          <a:p>
            <a:r>
              <a:t>As shown in our distribution plots on the right, both scalers preserve the underlying uniform shape while shifting the coordinate system.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(Presenter 3):</a:t>
            </a:r>
          </a:p>
          <a:p>
            <a:r>
              <a:t>A critical aspect of our preprocessing is the strict prevention of Data Leakage.</a:t>
            </a:r>
          </a:p>
          <a:p>
            <a:r>
              <a:t>We executed an 80-20 stratified train-test split BEFORE fitting any scalers or encoders. All parameters—means, variances, and category mappings—were learned strictly on the training set.</a:t>
            </a:r>
          </a:p>
          <a:p>
            <a:r>
              <a:t>For categorical variables, nominal features were one-hot encoded with drop='first' to eliminate the Dummy Variable Trap and prevent multicollinearity. Ordinal features like Congestion Level were mapped to an ordered numeric scale.</a:t>
            </a:r>
          </a:p>
          <a:p>
            <a:r>
              <a:t>All steps were encapsulated into scikit-learn Pipeline and ColumnTransformer objects. I will now hand over to Presenter 4 for Model Building and Analysis.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(Presenter 4):</a:t>
            </a:r>
          </a:p>
          <a:p>
            <a:r>
              <a:t>Thank you. In Section 5, Model Building, we implemented four distinct algorithms to compare linear versus non-linear performance:</a:t>
            </a:r>
          </a:p>
          <a:p>
            <a:r>
              <a:t>1. Logistic Regression with standardization as our interpretable linear baseline.</a:t>
            </a:r>
          </a:p>
          <a:p>
            <a:r>
              <a:t>2. Logistic Regression with normalization to test the empirical effect of Min-Max scaling.</a:t>
            </a:r>
          </a:p>
          <a:p>
            <a:r>
              <a:t>3. Random Forest Classifier using 150 bagged trees.</a:t>
            </a:r>
          </a:p>
          <a:p>
            <a:r>
              <a:t>4. Histogram-based Gradient Boosting for fast, state-of-the-art boosting.</a:t>
            </a:r>
          </a:p>
          <a:p>
            <a:r>
              <a:t>As seen in our benchmark table on the right, all models perform comparably between 50% and 51% across Accuracy and ROC-AUC.</a:t>
            </a:r>
          </a:p>
          <a:p>
            <a:r>
              <a:t>Notice that Standardized versus Normalized Logistic Regression produces virtually identical results—0.5025 versus 0.5030 Accuracy—proving that scaling choice does not alter linear discriminability on bounded uniform data.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(Presenter 4):</a:t>
            </a:r>
          </a:p>
          <a:p>
            <a:r>
              <a:t>In Section 6, Model Analysis, we evaluated the models across multiple metrics rather than relying solely on accuracy:</a:t>
            </a:r>
          </a:p>
          <a:p>
            <a:r>
              <a:t>- Precision measures the accuracy of drop alarms. High precision avoids unnecessary cell technician dispatches.</a:t>
            </a:r>
          </a:p>
          <a:p>
            <a:r>
              <a:t>- Recall measures the detection rate of actual drops. High recall prevents silent dropped calls for telecom subscribers.</a:t>
            </a:r>
          </a:p>
          <a:p>
            <a:r>
              <a:t>- On the left, our grouped bar chart displays performance against the 0.50 random guess baseline.</a:t>
            </a:r>
          </a:p>
          <a:p>
            <a:r>
              <a:t>- On the right, the confusion matrices for 10,000 test sessions show a balanced distribution across True Negatives, False Positives, False Negatives, and True Positives (approximately 2,500 samples per quadrant), consistent with our target distribution.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(Presenter 4):</a:t>
            </a:r>
          </a:p>
          <a:p>
            <a:r>
              <a:t>On this slide:</a:t>
            </a:r>
          </a:p>
          <a:p>
            <a:r>
              <a:t>- On the left, the Receiver Operating Characteristic (ROC) curves evaluate discrimination power across all possible probability thresholds. All models trace close to the diagonal line, confirming an AUC near 0.50 to 0.51.</a:t>
            </a:r>
          </a:p>
          <a:p>
            <a:r>
              <a:t>- On the right, our Random Forest Feature Importance chart ranks features based on mean decrease in Gini impurity. Continuous features such as Download Speed, Data Usage, and Ping contribute balanced importance across the ensemble trees.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(Presenter 4):</a:t>
            </a:r>
          </a:p>
          <a:p>
            <a:r>
              <a:t>To conclude our presentation, we highlight three core findings:</a:t>
            </a:r>
          </a:p>
          <a:p>
            <a:r>
              <a:t>1. Data-Driven Root Cause: Our correlation analysis proved that no single feature correlates with dropped connections beyond 0.01. The dataset was generated as independent uniform variables. Our models demonstrated high statistical integrity by reflecting this true entropy rather than hallucinating artificial patterns.</a:t>
            </a:r>
          </a:p>
          <a:p>
            <a:r>
              <a:t>2. In real-world 5G environments, connection drops follow strict non-linear physical layer breakdowns—such as RSRP plunging below -105 dBm combined with high jitter and cell handover failure.</a:t>
            </a:r>
          </a:p>
          <a:p>
            <a:r>
              <a:t>3. Therefore, for real telecommunications telemetry, we recommend Gradient Boosting and Random Forest as the optimal production architectures because they capture complex multi-feature interaction thresholds.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(All Team Members):</a:t>
            </a:r>
          </a:p>
          <a:p>
            <a:r>
              <a:t>Thank you respected evaluators for your time and guidance.</a:t>
            </a:r>
          </a:p>
          <a:p>
            <a:r>
              <a:t>Our complete machine learning pipeline, validated Jupyter notebook, master execution script, and 8 exported visualisations are fully ready.</a:t>
            </a:r>
          </a:p>
          <a:p>
            <a:r>
              <a:t>Our team is now prepared to answer any questions regarding our methodologies, mathematical justifications, or findings.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82B49"/>
          </a:solidFill>
          <a:ln>
            <a:solidFill>
              <a:srgbClr val="182B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645920"/>
            <a:ext cx="137160" cy="3291840"/>
          </a:xfrm>
          <a:prstGeom prst="rect">
            <a:avLst/>
          </a:prstGeom>
          <a:solidFill>
            <a:srgbClr val="1095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554480"/>
            <a:ext cx="10241280" cy="3657600"/>
          </a:xfrm>
          <a:prstGeom prst="rect">
            <a:avLst/>
          </a:prstGeom>
          <a:noFill/>
        </p:spPr>
        <p:txBody>
          <a:bodyPr wrap="square">
            <a:spAutoFit/>
          </a:bodyPr>
          <a:lstStyle/>
          <a:p>
            <a:pPr>
              <a:spcAft>
                <a:spcPts val="1200"/>
              </a:spcAft>
              <a:defRPr sz="1300" b="1">
                <a:solidFill>
                  <a:srgbClr val="10958C"/>
                </a:solidFill>
              </a:defRPr>
            </a:pPr>
            <a:r>
              <a:t>REVIEW 3 • MACHINE LEARNING PROJECT PRESENTATION</a:t>
            </a:r>
          </a:p>
          <a:p>
            <a:pPr>
              <a:spcAft>
                <a:spcPts val="1400"/>
              </a:spcAft>
              <a:defRPr sz="3600" b="1">
                <a:solidFill>
                  <a:srgbClr val="FFFFFF"/>
                </a:solidFill>
              </a:defRPr>
            </a:pPr>
            <a:r>
              <a:t>5G Network Quality &amp; Connection Drop Prediction</a:t>
            </a:r>
          </a:p>
          <a:p>
            <a:pPr>
              <a:spcAft>
                <a:spcPts val="2800"/>
              </a:spcAft>
              <a:defRPr sz="1600">
                <a:solidFill>
                  <a:srgbClr val="C8D7EB"/>
                </a:solidFill>
              </a:defRPr>
            </a:pPr>
            <a:r>
              <a:t>Comprehensive ML Pipeline: Data Understanding, Cleaning, Statistical Checks,</a:t>
            </a:r>
            <a:br/>
            <a:r>
              <a:t>Preprocessing (Scaling), Multi-Model Architecture &amp; Operational Analysis</a:t>
            </a:r>
          </a:p>
          <a:p>
            <a:pPr>
              <a:defRPr sz="1200">
                <a:solidFill>
                  <a:srgbClr val="A0B9D2"/>
                </a:solidFill>
              </a:defRPr>
            </a:pPr>
            <a:r>
              <a:t>Presented by: Project Team Members   |   Course: Data Science &amp; Visualization / ML   |   B.Tech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solidFill>
              <a:srgbClr val="F8F9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8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698480" cy="274320"/>
          </a:xfrm>
          <a:prstGeom prst="rect">
            <a:avLst/>
          </a:prstGeom>
          <a:noFill/>
        </p:spPr>
        <p:txBody>
          <a:bodyPr wrap="square">
            <a:spAutoFit/>
          </a:bodyPr>
          <a:lstStyle/>
          <a:p>
            <a:pPr>
              <a:defRPr sz="1000" b="1">
                <a:solidFill>
                  <a:srgbClr val="10958C"/>
                </a:solidFill>
              </a:defRPr>
            </a:pPr>
            <a:r>
              <a:t>AGENDA &amp; TEAM ASSIGNMENT</a:t>
            </a:r>
          </a:p>
        </p:txBody>
      </p:sp>
      <p:sp>
        <p:nvSpPr>
          <p:cNvPr id="5" name="TextBox 4"/>
          <p:cNvSpPr txBox="1"/>
          <p:nvPr/>
        </p:nvSpPr>
        <p:spPr>
          <a:xfrm>
            <a:off x="731520" y="347472"/>
            <a:ext cx="10698480" cy="594360"/>
          </a:xfrm>
          <a:prstGeom prst="rect">
            <a:avLst/>
          </a:prstGeom>
          <a:noFill/>
        </p:spPr>
        <p:txBody>
          <a:bodyPr wrap="square">
            <a:spAutoFit/>
          </a:bodyPr>
          <a:lstStyle/>
          <a:p>
            <a:pPr>
              <a:defRPr sz="2200" b="1">
                <a:solidFill>
                  <a:srgbClr val="FFFFFF"/>
                </a:solidFill>
              </a:defRPr>
            </a:pPr>
            <a:r>
              <a:t>Review 3 Presentation Roadmap &amp; Team Role Division</a:t>
            </a:r>
          </a:p>
        </p:txBody>
      </p:sp>
      <p:sp>
        <p:nvSpPr>
          <p:cNvPr id="6" name="Rounded Rectangle 5"/>
          <p:cNvSpPr/>
          <p:nvPr/>
        </p:nvSpPr>
        <p:spPr>
          <a:xfrm>
            <a:off x="731520" y="1371600"/>
            <a:ext cx="3429000" cy="2240280"/>
          </a:xfrm>
          <a:prstGeom prst="roundRect">
            <a:avLst/>
          </a:prstGeom>
          <a:solidFill>
            <a:srgbClr val="FFFFFF"/>
          </a:solidFill>
          <a:ln w="12700">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508760"/>
            <a:ext cx="3063240" cy="1965960"/>
          </a:xfrm>
          <a:prstGeom prst="rect">
            <a:avLst/>
          </a:prstGeom>
          <a:noFill/>
        </p:spPr>
        <p:txBody>
          <a:bodyPr wrap="square">
            <a:spAutoFit/>
          </a:bodyPr>
          <a:lstStyle/>
          <a:p>
            <a:pPr>
              <a:spcAft>
                <a:spcPts val="400"/>
              </a:spcAft>
              <a:defRPr sz="1500" b="1">
                <a:solidFill>
                  <a:srgbClr val="182B49"/>
                </a:solidFill>
              </a:defRPr>
            </a:pPr>
            <a:r>
              <a:t>1. Data Understanding</a:t>
            </a:r>
          </a:p>
          <a:p>
            <a:pPr>
              <a:spcAft>
                <a:spcPts val="800"/>
              </a:spcAft>
              <a:defRPr sz="1100" b="1">
                <a:solidFill>
                  <a:srgbClr val="0E74BC"/>
                </a:solidFill>
              </a:defRPr>
            </a:pPr>
            <a:r>
              <a:t>Assigned: Presenter 1</a:t>
            </a:r>
          </a:p>
          <a:p>
            <a:pPr>
              <a:defRPr sz="1100">
                <a:solidFill>
                  <a:srgbClr val="212529"/>
                </a:solidFill>
              </a:defRPr>
            </a:pPr>
            <a:r>
              <a:t>Schema taxonomy, measurement scales (8 Continuous, 3 Discrete, 5 Nominal, 2 Ordinal, 2 Boolean), and target balance analysis.</a:t>
            </a:r>
          </a:p>
        </p:txBody>
      </p:sp>
      <p:sp>
        <p:nvSpPr>
          <p:cNvPr id="8" name="Rounded Rectangle 7"/>
          <p:cNvSpPr/>
          <p:nvPr/>
        </p:nvSpPr>
        <p:spPr>
          <a:xfrm>
            <a:off x="4343400" y="1371600"/>
            <a:ext cx="3429000" cy="2240280"/>
          </a:xfrm>
          <a:prstGeom prst="roundRect">
            <a:avLst/>
          </a:prstGeom>
          <a:solidFill>
            <a:srgbClr val="FFFFFF"/>
          </a:solidFill>
          <a:ln w="12700">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26280" y="1508760"/>
            <a:ext cx="3063240" cy="1965960"/>
          </a:xfrm>
          <a:prstGeom prst="rect">
            <a:avLst/>
          </a:prstGeom>
          <a:noFill/>
        </p:spPr>
        <p:txBody>
          <a:bodyPr wrap="square">
            <a:spAutoFit/>
          </a:bodyPr>
          <a:lstStyle/>
          <a:p>
            <a:pPr>
              <a:spcAft>
                <a:spcPts val="400"/>
              </a:spcAft>
              <a:defRPr sz="1500" b="1">
                <a:solidFill>
                  <a:srgbClr val="182B49"/>
                </a:solidFill>
              </a:defRPr>
            </a:pPr>
            <a:r>
              <a:t>2. Data Cleaning</a:t>
            </a:r>
          </a:p>
          <a:p>
            <a:pPr>
              <a:spcAft>
                <a:spcPts val="800"/>
              </a:spcAft>
              <a:defRPr sz="1100" b="1">
                <a:solidFill>
                  <a:srgbClr val="0E74BC"/>
                </a:solidFill>
              </a:defRPr>
            </a:pPr>
            <a:r>
              <a:t>Assigned: Presenter 1</a:t>
            </a:r>
          </a:p>
          <a:p>
            <a:pPr>
              <a:defRPr sz="1100">
                <a:solidFill>
                  <a:srgbClr val="212529"/>
                </a:solidFill>
              </a:defRPr>
            </a:pPr>
            <a:r>
              <a:t>Duplicate detection, median vs. mode imputation strategy, metadata removal, and pipeline verification.</a:t>
            </a:r>
          </a:p>
        </p:txBody>
      </p:sp>
      <p:sp>
        <p:nvSpPr>
          <p:cNvPr id="10" name="Rounded Rectangle 9"/>
          <p:cNvSpPr/>
          <p:nvPr/>
        </p:nvSpPr>
        <p:spPr>
          <a:xfrm>
            <a:off x="7955280" y="1371600"/>
            <a:ext cx="3429000" cy="2240280"/>
          </a:xfrm>
          <a:prstGeom prst="roundRect">
            <a:avLst/>
          </a:prstGeom>
          <a:solidFill>
            <a:srgbClr val="FFFFFF"/>
          </a:solidFill>
          <a:ln w="12700">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38160" y="1508760"/>
            <a:ext cx="3063240" cy="1965960"/>
          </a:xfrm>
          <a:prstGeom prst="rect">
            <a:avLst/>
          </a:prstGeom>
          <a:noFill/>
        </p:spPr>
        <p:txBody>
          <a:bodyPr wrap="square">
            <a:spAutoFit/>
          </a:bodyPr>
          <a:lstStyle/>
          <a:p>
            <a:pPr>
              <a:spcAft>
                <a:spcPts val="400"/>
              </a:spcAft>
              <a:defRPr sz="1500" b="1">
                <a:solidFill>
                  <a:srgbClr val="182B49"/>
                </a:solidFill>
              </a:defRPr>
            </a:pPr>
            <a:r>
              <a:t>3. Statistical Checks</a:t>
            </a:r>
          </a:p>
          <a:p>
            <a:pPr>
              <a:spcAft>
                <a:spcPts val="800"/>
              </a:spcAft>
              <a:defRPr sz="1100" b="1">
                <a:solidFill>
                  <a:srgbClr val="0E74BC"/>
                </a:solidFill>
              </a:defRPr>
            </a:pPr>
            <a:r>
              <a:t>Assigned: Presenter 2</a:t>
            </a:r>
          </a:p>
          <a:p>
            <a:pPr>
              <a:defRPr sz="1100">
                <a:solidFill>
                  <a:srgbClr val="212529"/>
                </a:solidFill>
              </a:defRPr>
            </a:pPr>
            <a:r>
              <a:t>Shapiro-Wilk normality hypothesis test, kurtosis analysis (-1.2 uniform signature), Q-Q plots, and Tukey's 1.5 IQR outlier analysis.</a:t>
            </a:r>
          </a:p>
        </p:txBody>
      </p:sp>
      <p:sp>
        <p:nvSpPr>
          <p:cNvPr id="12" name="Rounded Rectangle 11"/>
          <p:cNvSpPr/>
          <p:nvPr/>
        </p:nvSpPr>
        <p:spPr>
          <a:xfrm>
            <a:off x="731520" y="3840480"/>
            <a:ext cx="3429000" cy="2240280"/>
          </a:xfrm>
          <a:prstGeom prst="roundRect">
            <a:avLst/>
          </a:prstGeom>
          <a:solidFill>
            <a:srgbClr val="FFFFFF"/>
          </a:solidFill>
          <a:ln w="12700">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977640"/>
            <a:ext cx="3063240" cy="1965960"/>
          </a:xfrm>
          <a:prstGeom prst="rect">
            <a:avLst/>
          </a:prstGeom>
          <a:noFill/>
        </p:spPr>
        <p:txBody>
          <a:bodyPr wrap="square">
            <a:spAutoFit/>
          </a:bodyPr>
          <a:lstStyle/>
          <a:p>
            <a:pPr>
              <a:spcAft>
                <a:spcPts val="400"/>
              </a:spcAft>
              <a:defRPr sz="1500" b="1">
                <a:solidFill>
                  <a:srgbClr val="182B49"/>
                </a:solidFill>
              </a:defRPr>
            </a:pPr>
            <a:r>
              <a:t>4. Data Preprocessing</a:t>
            </a:r>
          </a:p>
          <a:p>
            <a:pPr>
              <a:spcAft>
                <a:spcPts val="800"/>
              </a:spcAft>
              <a:defRPr sz="1100" b="1">
                <a:solidFill>
                  <a:srgbClr val="0E74BC"/>
                </a:solidFill>
              </a:defRPr>
            </a:pPr>
            <a:r>
              <a:t>Assigned: Presenter 3</a:t>
            </a:r>
          </a:p>
          <a:p>
            <a:pPr>
              <a:defRPr sz="1100">
                <a:solidFill>
                  <a:srgbClr val="212529"/>
                </a:solidFill>
              </a:defRPr>
            </a:pPr>
            <a:r>
              <a:t>Mathematical justification of Standardization vs. Normalization, tree model invariance, and strict train-test featurization ordering.</a:t>
            </a:r>
          </a:p>
        </p:txBody>
      </p:sp>
      <p:sp>
        <p:nvSpPr>
          <p:cNvPr id="14" name="Rounded Rectangle 13"/>
          <p:cNvSpPr/>
          <p:nvPr/>
        </p:nvSpPr>
        <p:spPr>
          <a:xfrm>
            <a:off x="4343400" y="3840480"/>
            <a:ext cx="3429000" cy="2240280"/>
          </a:xfrm>
          <a:prstGeom prst="roundRect">
            <a:avLst/>
          </a:prstGeom>
          <a:solidFill>
            <a:srgbClr val="FFFFFF"/>
          </a:solidFill>
          <a:ln w="12700">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26280" y="3977640"/>
            <a:ext cx="3063240" cy="1965960"/>
          </a:xfrm>
          <a:prstGeom prst="rect">
            <a:avLst/>
          </a:prstGeom>
          <a:noFill/>
        </p:spPr>
        <p:txBody>
          <a:bodyPr wrap="square">
            <a:spAutoFit/>
          </a:bodyPr>
          <a:lstStyle/>
          <a:p>
            <a:pPr>
              <a:spcAft>
                <a:spcPts val="400"/>
              </a:spcAft>
              <a:defRPr sz="1500" b="1">
                <a:solidFill>
                  <a:srgbClr val="182B49"/>
                </a:solidFill>
              </a:defRPr>
            </a:pPr>
            <a:r>
              <a:t>5. Model Building</a:t>
            </a:r>
          </a:p>
          <a:p>
            <a:pPr>
              <a:spcAft>
                <a:spcPts val="800"/>
              </a:spcAft>
              <a:defRPr sz="1100" b="1">
                <a:solidFill>
                  <a:srgbClr val="0E74BC"/>
                </a:solidFill>
              </a:defRPr>
            </a:pPr>
            <a:r>
              <a:t>Assigned: Presenter 4</a:t>
            </a:r>
          </a:p>
          <a:p>
            <a:pPr>
              <a:defRPr sz="1100">
                <a:solidFill>
                  <a:srgbClr val="212529"/>
                </a:solidFill>
              </a:defRPr>
            </a:pPr>
            <a:r>
              <a:t>Selected algorithms: Logistic Regression (Standardized &amp; Normalized), Random Forest, and Gradient Boosting (HistGB).</a:t>
            </a:r>
          </a:p>
        </p:txBody>
      </p:sp>
      <p:sp>
        <p:nvSpPr>
          <p:cNvPr id="16" name="Rounded Rectangle 15"/>
          <p:cNvSpPr/>
          <p:nvPr/>
        </p:nvSpPr>
        <p:spPr>
          <a:xfrm>
            <a:off x="7955280" y="3840480"/>
            <a:ext cx="3429000" cy="2240280"/>
          </a:xfrm>
          <a:prstGeom prst="roundRect">
            <a:avLst/>
          </a:prstGeom>
          <a:solidFill>
            <a:srgbClr val="FFFFFF"/>
          </a:solidFill>
          <a:ln w="12700">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38160" y="3977640"/>
            <a:ext cx="3063240" cy="1965960"/>
          </a:xfrm>
          <a:prstGeom prst="rect">
            <a:avLst/>
          </a:prstGeom>
          <a:noFill/>
        </p:spPr>
        <p:txBody>
          <a:bodyPr wrap="square">
            <a:spAutoFit/>
          </a:bodyPr>
          <a:lstStyle/>
          <a:p>
            <a:pPr>
              <a:spcAft>
                <a:spcPts val="400"/>
              </a:spcAft>
              <a:defRPr sz="1500" b="1">
                <a:solidFill>
                  <a:srgbClr val="182B49"/>
                </a:solidFill>
              </a:defRPr>
            </a:pPr>
            <a:r>
              <a:t>6. Model Findings</a:t>
            </a:r>
          </a:p>
          <a:p>
            <a:pPr>
              <a:spcAft>
                <a:spcPts val="800"/>
              </a:spcAft>
              <a:defRPr sz="1100" b="1">
                <a:solidFill>
                  <a:srgbClr val="0E74BC"/>
                </a:solidFill>
              </a:defRPr>
            </a:pPr>
            <a:r>
              <a:t>Assigned: Presenter 4</a:t>
            </a:r>
          </a:p>
          <a:p>
            <a:pPr>
              <a:defRPr sz="1100">
                <a:solidFill>
                  <a:srgbClr val="212529"/>
                </a:solidFill>
              </a:defRPr>
            </a:pPr>
            <a:r>
              <a:t>Evaluation across Accuracy, Precision, Recall, F1, ROC-AUC, Confusion Matrices, ROC Curves, and telecom root-cause analysis.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solidFill>
              <a:srgbClr val="F8F9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8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698480" cy="274320"/>
          </a:xfrm>
          <a:prstGeom prst="rect">
            <a:avLst/>
          </a:prstGeom>
          <a:noFill/>
        </p:spPr>
        <p:txBody>
          <a:bodyPr wrap="square">
            <a:spAutoFit/>
          </a:bodyPr>
          <a:lstStyle/>
          <a:p>
            <a:pPr>
              <a:defRPr sz="1000" b="1">
                <a:solidFill>
                  <a:srgbClr val="10958C"/>
                </a:solidFill>
              </a:defRPr>
            </a:pPr>
            <a:r>
              <a:t>SECTION 1: DATA UNDERSTANDING</a:t>
            </a:r>
          </a:p>
        </p:txBody>
      </p:sp>
      <p:sp>
        <p:nvSpPr>
          <p:cNvPr id="5" name="TextBox 4"/>
          <p:cNvSpPr txBox="1"/>
          <p:nvPr/>
        </p:nvSpPr>
        <p:spPr>
          <a:xfrm>
            <a:off x="731520" y="347472"/>
            <a:ext cx="10698480" cy="594360"/>
          </a:xfrm>
          <a:prstGeom prst="rect">
            <a:avLst/>
          </a:prstGeom>
          <a:noFill/>
        </p:spPr>
        <p:txBody>
          <a:bodyPr wrap="square">
            <a:spAutoFit/>
          </a:bodyPr>
          <a:lstStyle/>
          <a:p>
            <a:pPr>
              <a:defRPr sz="2200" b="1">
                <a:solidFill>
                  <a:srgbClr val="FFFFFF"/>
                </a:solidFill>
              </a:defRPr>
            </a:pPr>
            <a:r>
              <a:t>1. Data Understanding: Dataset Structure &amp; Target Distribution</a:t>
            </a:r>
          </a:p>
        </p:txBody>
      </p:sp>
      <p:sp>
        <p:nvSpPr>
          <p:cNvPr id="6" name="Rounded Rectangle 5"/>
          <p:cNvSpPr/>
          <p:nvPr/>
        </p:nvSpPr>
        <p:spPr>
          <a:xfrm>
            <a:off x="731520" y="1325880"/>
            <a:ext cx="5120640" cy="5029200"/>
          </a:xfrm>
          <a:prstGeom prst="roundRect">
            <a:avLst/>
          </a:prstGeom>
          <a:solidFill>
            <a:srgbClr val="FFFFFF"/>
          </a:solidFill>
          <a:ln w="12700">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508760"/>
            <a:ext cx="4754880" cy="4663440"/>
          </a:xfrm>
          <a:prstGeom prst="rect">
            <a:avLst/>
          </a:prstGeom>
          <a:noFill/>
        </p:spPr>
        <p:txBody>
          <a:bodyPr wrap="square">
            <a:spAutoFit/>
          </a:bodyPr>
          <a:lstStyle/>
          <a:p>
            <a:pPr>
              <a:spcAft>
                <a:spcPts val="1200"/>
              </a:spcAft>
              <a:defRPr sz="1600" b="1">
                <a:solidFill>
                  <a:srgbClr val="182B49"/>
                </a:solidFill>
              </a:defRPr>
            </a:pPr>
            <a:r>
              <a:t>Dataset Dimensions &amp; Target Balance</a:t>
            </a:r>
          </a:p>
          <a:p>
            <a:pPr>
              <a:spcAft>
                <a:spcPts val="600"/>
              </a:spcAft>
              <a:defRPr b="1" sz="1200">
                <a:solidFill>
                  <a:srgbClr val="182B49"/>
                </a:solidFill>
              </a:defRPr>
            </a:pPr>
            <a:r>
              <a:t>• Total Volume: </a:t>
            </a:r>
            <a:r>
              <a:rPr b="0">
                <a:solidFill>
                  <a:srgbClr val="212529"/>
                </a:solidFill>
              </a:rPr>
              <a:t>50,000 session records and 21 features capturing radio frequency, throughput, thermal state, and mobility.</a:t>
            </a:r>
          </a:p>
          <a:p>
            <a:pPr>
              <a:spcAft>
                <a:spcPts val="600"/>
              </a:spcAft>
              <a:defRPr b="1" sz="1200">
                <a:solidFill>
                  <a:srgbClr val="182B49"/>
                </a:solidFill>
              </a:defRPr>
            </a:pPr>
            <a:r>
              <a:t>• Target Variable: </a:t>
            </a:r>
            <a:r>
              <a:rPr b="0">
                <a:solidFill>
                  <a:srgbClr val="212529"/>
                </a:solidFill>
              </a:rPr>
              <a:t>'Dropped Connection' representing session failure (True = 1, False = 0).</a:t>
            </a:r>
          </a:p>
          <a:p>
            <a:pPr>
              <a:spcAft>
                <a:spcPts val="600"/>
              </a:spcAft>
              <a:defRPr b="1" sz="1200">
                <a:solidFill>
                  <a:srgbClr val="182B49"/>
                </a:solidFill>
              </a:defRPr>
            </a:pPr>
            <a:r>
              <a:t>• Class Balance Ratio: </a:t>
            </a:r>
            <a:r>
              <a:rPr b="0">
                <a:solidFill>
                  <a:srgbClr val="212529"/>
                </a:solidFill>
              </a:rPr>
              <a:t>25,031 Dropped (50.06%) vs. 24,969 Active (49.94%). Perfect 50/50 balance ensures no majority class bias.</a:t>
            </a:r>
          </a:p>
          <a:p>
            <a:pPr>
              <a:spcAft>
                <a:spcPts val="600"/>
              </a:spcAft>
              <a:defRPr b="1" sz="1200">
                <a:solidFill>
                  <a:srgbClr val="182B49"/>
                </a:solidFill>
              </a:defRPr>
            </a:pPr>
            <a:r>
              <a:t>• Identifier Pruning: </a:t>
            </a:r>
            <a:r>
              <a:rPr b="0">
                <a:solidFill>
                  <a:srgbClr val="212529"/>
                </a:solidFill>
              </a:rPr>
              <a:t>'Timestamp' contains 50,000 unique log values. It acts as an ID and must be discarded to prevent data leakage and memorization.</a:t>
            </a:r>
          </a:p>
          <a:p>
            <a:pPr>
              <a:spcAft>
                <a:spcPts val="600"/>
              </a:spcAft>
              <a:defRPr b="1" sz="1200">
                <a:solidFill>
                  <a:srgbClr val="182B49"/>
                </a:solidFill>
              </a:defRPr>
            </a:pPr>
            <a:r>
              <a:t>• Measurement Scales: </a:t>
            </a:r>
            <a:r>
              <a:rPr b="0">
                <a:solidFill>
                  <a:srgbClr val="212529"/>
                </a:solidFill>
              </a:rPr>
              <a:t>Systematically classified into 8 Continuous, 3 Discrete, 5 Nominal Categorical, 2 Ordinal Categorical, and 2 Booleans.</a:t>
            </a:r>
          </a:p>
        </p:txBody>
      </p:sp>
      <p:pic>
        <p:nvPicPr>
          <p:cNvPr id="8" name="Picture 7" descr="01_feature_data_types_summary.png"/>
          <p:cNvPicPr>
            <a:picLocks noChangeAspect="1"/>
          </p:cNvPicPr>
          <p:nvPr/>
        </p:nvPicPr>
        <p:blipFill>
          <a:blip r:embed="rId2"/>
          <a:stretch>
            <a:fillRect/>
          </a:stretch>
        </p:blipFill>
        <p:spPr>
          <a:xfrm>
            <a:off x="6035040" y="1325880"/>
            <a:ext cx="5440680" cy="272034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solidFill>
              <a:srgbClr val="F8F9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8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698480" cy="274320"/>
          </a:xfrm>
          <a:prstGeom prst="rect">
            <a:avLst/>
          </a:prstGeom>
          <a:noFill/>
        </p:spPr>
        <p:txBody>
          <a:bodyPr wrap="square">
            <a:spAutoFit/>
          </a:bodyPr>
          <a:lstStyle/>
          <a:p>
            <a:pPr>
              <a:defRPr sz="1000" b="1">
                <a:solidFill>
                  <a:srgbClr val="10958C"/>
                </a:solidFill>
              </a:defRPr>
            </a:pPr>
            <a:r>
              <a:t>SECTION 1: DATA UNDERSTANDING</a:t>
            </a:r>
          </a:p>
        </p:txBody>
      </p:sp>
      <p:sp>
        <p:nvSpPr>
          <p:cNvPr id="5" name="TextBox 4"/>
          <p:cNvSpPr txBox="1"/>
          <p:nvPr/>
        </p:nvSpPr>
        <p:spPr>
          <a:xfrm>
            <a:off x="731520" y="347472"/>
            <a:ext cx="10698480" cy="594360"/>
          </a:xfrm>
          <a:prstGeom prst="rect">
            <a:avLst/>
          </a:prstGeom>
          <a:noFill/>
        </p:spPr>
        <p:txBody>
          <a:bodyPr wrap="square">
            <a:spAutoFit/>
          </a:bodyPr>
          <a:lstStyle/>
          <a:p>
            <a:pPr>
              <a:defRPr sz="2200" b="1">
                <a:solidFill>
                  <a:srgbClr val="FFFFFF"/>
                </a:solidFill>
              </a:defRPr>
            </a:pPr>
            <a:r>
              <a:t>1. Data Understanding: Comprehensive Feature Taxonomy</a:t>
            </a:r>
          </a:p>
        </p:txBody>
      </p:sp>
      <p:graphicFrame>
        <p:nvGraphicFramePr>
          <p:cNvPr id="6" name="Table 5"/>
          <p:cNvGraphicFramePr>
            <a:graphicFrameLocks noGrp="1"/>
          </p:cNvGraphicFramePr>
          <p:nvPr/>
        </p:nvGraphicFramePr>
        <p:xfrm>
          <a:off x="731520" y="1325880"/>
          <a:ext cx="10728655" cy="5029200"/>
        </p:xfrm>
        <a:graphic>
          <a:graphicData uri="http://schemas.openxmlformats.org/drawingml/2006/table">
            <a:tbl>
              <a:tblPr firstRow="1" bandRow="1">
                <a:tableStyleId>{5C22544A-7EE6-4342-B048-85BDC9FD1C3A}</a:tableStyleId>
              </a:tblPr>
              <a:tblGrid>
                <a:gridCol w="2377440"/>
                <a:gridCol w="2011680"/>
                <a:gridCol w="1280160"/>
                <a:gridCol w="1920240"/>
                <a:gridCol w="3139135"/>
              </a:tblGrid>
              <a:tr h="628650">
                <a:tc>
                  <a:txBody>
                    <a:bodyPr/>
                    <a:lstStyle/>
                    <a:p>
                      <a:pPr algn="ctr">
                        <a:defRPr b="1" sz="1100">
                          <a:solidFill>
                            <a:srgbClr val="FFFFFF"/>
                          </a:solidFill>
                        </a:defRPr>
                      </a:pPr>
                      <a:r>
                        <a:t>Feature Name</a:t>
                      </a:r>
                    </a:p>
                  </a:txBody>
                  <a:tcPr>
                    <a:solidFill>
                      <a:srgbClr val="182B49"/>
                    </a:solidFill>
                  </a:tcPr>
                </a:tc>
                <a:tc>
                  <a:txBody>
                    <a:bodyPr/>
                    <a:lstStyle/>
                    <a:p>
                      <a:pPr algn="ctr">
                        <a:defRPr b="1" sz="1100">
                          <a:solidFill>
                            <a:srgbClr val="FFFFFF"/>
                          </a:solidFill>
                        </a:defRPr>
                      </a:pPr>
                      <a:r>
                        <a:t>Statistical Scale</a:t>
                      </a:r>
                    </a:p>
                  </a:txBody>
                  <a:tcPr>
                    <a:solidFill>
                      <a:srgbClr val="182B49"/>
                    </a:solidFill>
                  </a:tcPr>
                </a:tc>
                <a:tc>
                  <a:txBody>
                    <a:bodyPr/>
                    <a:lstStyle/>
                    <a:p>
                      <a:pPr algn="ctr">
                        <a:defRPr b="1" sz="1100">
                          <a:solidFill>
                            <a:srgbClr val="FFFFFF"/>
                          </a:solidFill>
                        </a:defRPr>
                      </a:pPr>
                      <a:r>
                        <a:t>Pandas Dtype</a:t>
                      </a:r>
                    </a:p>
                  </a:txBody>
                  <a:tcPr>
                    <a:solidFill>
                      <a:srgbClr val="182B49"/>
                    </a:solidFill>
                  </a:tcPr>
                </a:tc>
                <a:tc>
                  <a:txBody>
                    <a:bodyPr/>
                    <a:lstStyle/>
                    <a:p>
                      <a:pPr algn="ctr">
                        <a:defRPr b="1" sz="1100">
                          <a:solidFill>
                            <a:srgbClr val="FFFFFF"/>
                          </a:solidFill>
                        </a:defRPr>
                      </a:pPr>
                      <a:r>
                        <a:t>Range / Cardinality</a:t>
                      </a:r>
                    </a:p>
                  </a:txBody>
                  <a:tcPr>
                    <a:solidFill>
                      <a:srgbClr val="182B49"/>
                    </a:solidFill>
                  </a:tcPr>
                </a:tc>
                <a:tc>
                  <a:txBody>
                    <a:bodyPr/>
                    <a:lstStyle/>
                    <a:p>
                      <a:pPr algn="ctr">
                        <a:defRPr b="1" sz="1100">
                          <a:solidFill>
                            <a:srgbClr val="FFFFFF"/>
                          </a:solidFill>
                        </a:defRPr>
                      </a:pPr>
                      <a:r>
                        <a:t>Telecommunications Domain Meaning</a:t>
                      </a:r>
                    </a:p>
                  </a:txBody>
                  <a:tcPr>
                    <a:solidFill>
                      <a:srgbClr val="182B49"/>
                    </a:solidFill>
                  </a:tcPr>
                </a:tc>
              </a:tr>
              <a:tr h="628650">
                <a:tc>
                  <a:txBody>
                    <a:bodyPr/>
                    <a:lstStyle/>
                    <a:p>
                      <a:pPr>
                        <a:defRPr sz="1000">
                          <a:solidFill>
                            <a:srgbClr val="212529"/>
                          </a:solidFill>
                        </a:defRPr>
                      </a:pPr>
                      <a:r>
                        <a:t>Signal Strength (dBm)</a:t>
                      </a:r>
                    </a:p>
                  </a:txBody>
                  <a:tcPr>
                    <a:solidFill>
                      <a:srgbClr val="F5F8FC"/>
                    </a:solidFill>
                  </a:tcPr>
                </a:tc>
                <a:tc>
                  <a:txBody>
                    <a:bodyPr/>
                    <a:lstStyle/>
                    <a:p>
                      <a:pPr algn="ctr">
                        <a:defRPr sz="1000">
                          <a:solidFill>
                            <a:srgbClr val="212529"/>
                          </a:solidFill>
                        </a:defRPr>
                      </a:pPr>
                      <a:r>
                        <a:t>Numerical (Continuous)</a:t>
                      </a:r>
                    </a:p>
                  </a:txBody>
                  <a:tcPr>
                    <a:solidFill>
                      <a:srgbClr val="F5F8FC"/>
                    </a:solidFill>
                  </a:tcPr>
                </a:tc>
                <a:tc>
                  <a:txBody>
                    <a:bodyPr/>
                    <a:lstStyle/>
                    <a:p>
                      <a:pPr algn="ctr">
                        <a:defRPr sz="1000">
                          <a:solidFill>
                            <a:srgbClr val="212529"/>
                          </a:solidFill>
                        </a:defRPr>
                      </a:pPr>
                      <a:r>
                        <a:t>float64</a:t>
                      </a:r>
                    </a:p>
                  </a:txBody>
                  <a:tcPr>
                    <a:solidFill>
                      <a:srgbClr val="F5F8FC"/>
                    </a:solidFill>
                  </a:tcPr>
                </a:tc>
                <a:tc>
                  <a:txBody>
                    <a:bodyPr/>
                    <a:lstStyle/>
                    <a:p>
                      <a:pPr algn="ctr">
                        <a:defRPr sz="1000">
                          <a:solidFill>
                            <a:srgbClr val="212529"/>
                          </a:solidFill>
                        </a:defRPr>
                      </a:pPr>
                      <a:r>
                        <a:t>[-110.0 to -60.0 dBm]</a:t>
                      </a:r>
                    </a:p>
                  </a:txBody>
                  <a:tcPr>
                    <a:solidFill>
                      <a:srgbClr val="F5F8FC"/>
                    </a:solidFill>
                  </a:tcPr>
                </a:tc>
                <a:tc>
                  <a:txBody>
                    <a:bodyPr/>
                    <a:lstStyle/>
                    <a:p>
                      <a:pPr>
                        <a:defRPr sz="1000">
                          <a:solidFill>
                            <a:srgbClr val="212529"/>
                          </a:solidFill>
                        </a:defRPr>
                      </a:pPr>
                      <a:r>
                        <a:t>Radio Signal Received Power (RSRP) metric</a:t>
                      </a:r>
                    </a:p>
                  </a:txBody>
                  <a:tcPr>
                    <a:solidFill>
                      <a:srgbClr val="F5F8FC"/>
                    </a:solidFill>
                  </a:tcPr>
                </a:tc>
              </a:tr>
              <a:tr h="628650">
                <a:tc>
                  <a:txBody>
                    <a:bodyPr/>
                    <a:lstStyle/>
                    <a:p>
                      <a:pPr>
                        <a:defRPr sz="1000">
                          <a:solidFill>
                            <a:srgbClr val="212529"/>
                          </a:solidFill>
                        </a:defRPr>
                      </a:pPr>
                      <a:r>
                        <a:t>Download / Upload Speed</a:t>
                      </a:r>
                    </a:p>
                  </a:txBody>
                  <a:tcPr>
                    <a:solidFill>
                      <a:srgbClr val="FFFFFF"/>
                    </a:solidFill>
                  </a:tcPr>
                </a:tc>
                <a:tc>
                  <a:txBody>
                    <a:bodyPr/>
                    <a:lstStyle/>
                    <a:p>
                      <a:pPr algn="ctr">
                        <a:defRPr sz="1000">
                          <a:solidFill>
                            <a:srgbClr val="212529"/>
                          </a:solidFill>
                        </a:defRPr>
                      </a:pPr>
                      <a:r>
                        <a:t>Numerical (Continuous)</a:t>
                      </a:r>
                    </a:p>
                  </a:txBody>
                  <a:tcPr>
                    <a:solidFill>
                      <a:srgbClr val="FFFFFF"/>
                    </a:solidFill>
                  </a:tcPr>
                </a:tc>
                <a:tc>
                  <a:txBody>
                    <a:bodyPr/>
                    <a:lstStyle/>
                    <a:p>
                      <a:pPr algn="ctr">
                        <a:defRPr sz="1000">
                          <a:solidFill>
                            <a:srgbClr val="212529"/>
                          </a:solidFill>
                        </a:defRPr>
                      </a:pPr>
                      <a:r>
                        <a:t>float64</a:t>
                      </a:r>
                    </a:p>
                  </a:txBody>
                  <a:tcPr>
                    <a:solidFill>
                      <a:srgbClr val="FFFFFF"/>
                    </a:solidFill>
                  </a:tcPr>
                </a:tc>
                <a:tc>
                  <a:txBody>
                    <a:bodyPr/>
                    <a:lstStyle/>
                    <a:p>
                      <a:pPr algn="ctr">
                        <a:defRPr sz="1000">
                          <a:solidFill>
                            <a:srgbClr val="212529"/>
                          </a:solidFill>
                        </a:defRPr>
                      </a:pPr>
                      <a:r>
                        <a:t>[100-1000] / [20-150] Mbps</a:t>
                      </a:r>
                    </a:p>
                  </a:txBody>
                  <a:tcPr>
                    <a:solidFill>
                      <a:srgbClr val="FFFFFF"/>
                    </a:solidFill>
                  </a:tcPr>
                </a:tc>
                <a:tc>
                  <a:txBody>
                    <a:bodyPr/>
                    <a:lstStyle/>
                    <a:p>
                      <a:pPr>
                        <a:defRPr sz="1000">
                          <a:solidFill>
                            <a:srgbClr val="212529"/>
                          </a:solidFill>
                        </a:defRPr>
                      </a:pPr>
                      <a:r>
                        <a:t>User plane downlink and uplink network throughput</a:t>
                      </a:r>
                    </a:p>
                  </a:txBody>
                  <a:tcPr>
                    <a:solidFill>
                      <a:srgbClr val="FFFFFF"/>
                    </a:solidFill>
                  </a:tcPr>
                </a:tc>
              </a:tr>
              <a:tr h="628650">
                <a:tc>
                  <a:txBody>
                    <a:bodyPr/>
                    <a:lstStyle/>
                    <a:p>
                      <a:pPr>
                        <a:defRPr sz="1000">
                          <a:solidFill>
                            <a:srgbClr val="212529"/>
                          </a:solidFill>
                        </a:defRPr>
                      </a:pPr>
                      <a:r>
                        <a:t>Latency / Jitter (ms)</a:t>
                      </a:r>
                    </a:p>
                  </a:txBody>
                  <a:tcPr>
                    <a:solidFill>
                      <a:srgbClr val="F5F8FC"/>
                    </a:solidFill>
                  </a:tcPr>
                </a:tc>
                <a:tc>
                  <a:txBody>
                    <a:bodyPr/>
                    <a:lstStyle/>
                    <a:p>
                      <a:pPr algn="ctr">
                        <a:defRPr sz="1000">
                          <a:solidFill>
                            <a:srgbClr val="212529"/>
                          </a:solidFill>
                        </a:defRPr>
                      </a:pPr>
                      <a:r>
                        <a:t>Numerical (Continuous)</a:t>
                      </a:r>
                    </a:p>
                  </a:txBody>
                  <a:tcPr>
                    <a:solidFill>
                      <a:srgbClr val="F5F8FC"/>
                    </a:solidFill>
                  </a:tcPr>
                </a:tc>
                <a:tc>
                  <a:txBody>
                    <a:bodyPr/>
                    <a:lstStyle/>
                    <a:p>
                      <a:pPr algn="ctr">
                        <a:defRPr sz="1000">
                          <a:solidFill>
                            <a:srgbClr val="212529"/>
                          </a:solidFill>
                        </a:defRPr>
                      </a:pPr>
                      <a:r>
                        <a:t>float64</a:t>
                      </a:r>
                    </a:p>
                  </a:txBody>
                  <a:tcPr>
                    <a:solidFill>
                      <a:srgbClr val="F5F8FC"/>
                    </a:solidFill>
                  </a:tcPr>
                </a:tc>
                <a:tc>
                  <a:txBody>
                    <a:bodyPr/>
                    <a:lstStyle/>
                    <a:p>
                      <a:pPr algn="ctr">
                        <a:defRPr sz="1000">
                          <a:solidFill>
                            <a:srgbClr val="212529"/>
                          </a:solidFill>
                        </a:defRPr>
                      </a:pPr>
                      <a:r>
                        <a:t>[1-20 ms] / [0.1-5.0 ms]</a:t>
                      </a:r>
                    </a:p>
                  </a:txBody>
                  <a:tcPr>
                    <a:solidFill>
                      <a:srgbClr val="F5F8FC"/>
                    </a:solidFill>
                  </a:tcPr>
                </a:tc>
                <a:tc>
                  <a:txBody>
                    <a:bodyPr/>
                    <a:lstStyle/>
                    <a:p>
                      <a:pPr>
                        <a:defRPr sz="1000">
                          <a:solidFill>
                            <a:srgbClr val="212529"/>
                          </a:solidFill>
                        </a:defRPr>
                      </a:pPr>
                      <a:r>
                        <a:t>Radio transmission delay and packet delay variation</a:t>
                      </a:r>
                    </a:p>
                  </a:txBody>
                  <a:tcPr>
                    <a:solidFill>
                      <a:srgbClr val="F5F8FC"/>
                    </a:solidFill>
                  </a:tcPr>
                </a:tc>
              </a:tr>
              <a:tr h="628650">
                <a:tc>
                  <a:txBody>
                    <a:bodyPr/>
                    <a:lstStyle/>
                    <a:p>
                      <a:pPr>
                        <a:defRPr sz="1000">
                          <a:solidFill>
                            <a:srgbClr val="212529"/>
                          </a:solidFill>
                        </a:defRPr>
                      </a:pPr>
                      <a:r>
                        <a:t>Network Type / Carrier</a:t>
                      </a:r>
                    </a:p>
                  </a:txBody>
                  <a:tcPr>
                    <a:solidFill>
                      <a:srgbClr val="FFFFFF"/>
                    </a:solidFill>
                  </a:tcPr>
                </a:tc>
                <a:tc>
                  <a:txBody>
                    <a:bodyPr/>
                    <a:lstStyle/>
                    <a:p>
                      <a:pPr algn="ctr">
                        <a:defRPr sz="1000">
                          <a:solidFill>
                            <a:srgbClr val="212529"/>
                          </a:solidFill>
                        </a:defRPr>
                      </a:pPr>
                      <a:r>
                        <a:t>Categorical (Nominal)</a:t>
                      </a:r>
                    </a:p>
                  </a:txBody>
                  <a:tcPr>
                    <a:solidFill>
                      <a:srgbClr val="FFFFFF"/>
                    </a:solidFill>
                  </a:tcPr>
                </a:tc>
                <a:tc>
                  <a:txBody>
                    <a:bodyPr/>
                    <a:lstStyle/>
                    <a:p>
                      <a:pPr algn="ctr">
                        <a:defRPr sz="1000">
                          <a:solidFill>
                            <a:srgbClr val="212529"/>
                          </a:solidFill>
                        </a:defRPr>
                      </a:pPr>
                      <a:r>
                        <a:t>object (str)</a:t>
                      </a:r>
                    </a:p>
                  </a:txBody>
                  <a:tcPr>
                    <a:solidFill>
                      <a:srgbClr val="FFFFFF"/>
                    </a:solidFill>
                  </a:tcPr>
                </a:tc>
                <a:tc>
                  <a:txBody>
                    <a:bodyPr/>
                    <a:lstStyle/>
                    <a:p>
                      <a:pPr algn="ctr">
                        <a:defRPr sz="1000">
                          <a:solidFill>
                            <a:srgbClr val="212529"/>
                          </a:solidFill>
                        </a:defRPr>
                      </a:pPr>
                      <a:r>
                        <a:t>3 types / 7 carriers</a:t>
                      </a:r>
                    </a:p>
                  </a:txBody>
                  <a:tcPr>
                    <a:solidFill>
                      <a:srgbClr val="FFFFFF"/>
                    </a:solidFill>
                  </a:tcPr>
                </a:tc>
                <a:tc>
                  <a:txBody>
                    <a:bodyPr/>
                    <a:lstStyle/>
                    <a:p>
                      <a:pPr>
                        <a:defRPr sz="1000">
                          <a:solidFill>
                            <a:srgbClr val="212529"/>
                          </a:solidFill>
                        </a:defRPr>
                      </a:pPr>
                      <a:r>
                        <a:t>Deployment (4G, 5G NSA, 5G SA) &amp; Telco operator</a:t>
                      </a:r>
                    </a:p>
                  </a:txBody>
                  <a:tcPr>
                    <a:solidFill>
                      <a:srgbClr val="FFFFFF"/>
                    </a:solidFill>
                  </a:tcPr>
                </a:tc>
              </a:tr>
              <a:tr h="628650">
                <a:tc>
                  <a:txBody>
                    <a:bodyPr/>
                    <a:lstStyle/>
                    <a:p>
                      <a:pPr>
                        <a:defRPr sz="1000">
                          <a:solidFill>
                            <a:srgbClr val="212529"/>
                          </a:solidFill>
                        </a:defRPr>
                      </a:pPr>
                      <a:r>
                        <a:t>Device Model / Band</a:t>
                      </a:r>
                    </a:p>
                  </a:txBody>
                  <a:tcPr>
                    <a:solidFill>
                      <a:srgbClr val="F5F8FC"/>
                    </a:solidFill>
                  </a:tcPr>
                </a:tc>
                <a:tc>
                  <a:txBody>
                    <a:bodyPr/>
                    <a:lstStyle/>
                    <a:p>
                      <a:pPr algn="ctr">
                        <a:defRPr sz="1000">
                          <a:solidFill>
                            <a:srgbClr val="212529"/>
                          </a:solidFill>
                        </a:defRPr>
                      </a:pPr>
                      <a:r>
                        <a:t>Categorical (Nominal)</a:t>
                      </a:r>
                    </a:p>
                  </a:txBody>
                  <a:tcPr>
                    <a:solidFill>
                      <a:srgbClr val="F5F8FC"/>
                    </a:solidFill>
                  </a:tcPr>
                </a:tc>
                <a:tc>
                  <a:txBody>
                    <a:bodyPr/>
                    <a:lstStyle/>
                    <a:p>
                      <a:pPr algn="ctr">
                        <a:defRPr sz="1000">
                          <a:solidFill>
                            <a:srgbClr val="212529"/>
                          </a:solidFill>
                        </a:defRPr>
                      </a:pPr>
                      <a:r>
                        <a:t>object (str)</a:t>
                      </a:r>
                    </a:p>
                  </a:txBody>
                  <a:tcPr>
                    <a:solidFill>
                      <a:srgbClr val="F5F8FC"/>
                    </a:solidFill>
                  </a:tcPr>
                </a:tc>
                <a:tc>
                  <a:txBody>
                    <a:bodyPr/>
                    <a:lstStyle/>
                    <a:p>
                      <a:pPr algn="ctr">
                        <a:defRPr sz="1000">
                          <a:solidFill>
                            <a:srgbClr val="212529"/>
                          </a:solidFill>
                        </a:defRPr>
                      </a:pPr>
                      <a:r>
                        <a:t>5 models / 5 bands</a:t>
                      </a:r>
                    </a:p>
                  </a:txBody>
                  <a:tcPr>
                    <a:solidFill>
                      <a:srgbClr val="F5F8FC"/>
                    </a:solidFill>
                  </a:tcPr>
                </a:tc>
                <a:tc>
                  <a:txBody>
                    <a:bodyPr/>
                    <a:lstStyle/>
                    <a:p>
                      <a:pPr>
                        <a:defRPr sz="1000">
                          <a:solidFill>
                            <a:srgbClr val="212529"/>
                          </a:solidFill>
                        </a:defRPr>
                      </a:pPr>
                      <a:r>
                        <a:t>User equipment hardware &amp; frequency spectrum (n78, mmWave)</a:t>
                      </a:r>
                    </a:p>
                  </a:txBody>
                  <a:tcPr>
                    <a:solidFill>
                      <a:srgbClr val="F5F8FC"/>
                    </a:solidFill>
                  </a:tcPr>
                </a:tc>
              </a:tr>
              <a:tr h="628650">
                <a:tc>
                  <a:txBody>
                    <a:bodyPr/>
                    <a:lstStyle/>
                    <a:p>
                      <a:pPr>
                        <a:defRPr sz="1000">
                          <a:solidFill>
                            <a:srgbClr val="212529"/>
                          </a:solidFill>
                        </a:defRPr>
                      </a:pPr>
                      <a:r>
                        <a:t>Congestion / Video Quality</a:t>
                      </a:r>
                    </a:p>
                  </a:txBody>
                  <a:tcPr>
                    <a:solidFill>
                      <a:srgbClr val="FFFFFF"/>
                    </a:solidFill>
                  </a:tcPr>
                </a:tc>
                <a:tc>
                  <a:txBody>
                    <a:bodyPr/>
                    <a:lstStyle/>
                    <a:p>
                      <a:pPr algn="ctr">
                        <a:defRPr sz="1000">
                          <a:solidFill>
                            <a:srgbClr val="212529"/>
                          </a:solidFill>
                        </a:defRPr>
                      </a:pPr>
                      <a:r>
                        <a:t>Categorical (Ordinal)</a:t>
                      </a:r>
                    </a:p>
                  </a:txBody>
                  <a:tcPr>
                    <a:solidFill>
                      <a:srgbClr val="FFFFFF"/>
                    </a:solidFill>
                  </a:tcPr>
                </a:tc>
                <a:tc>
                  <a:txBody>
                    <a:bodyPr/>
                    <a:lstStyle/>
                    <a:p>
                      <a:pPr algn="ctr">
                        <a:defRPr sz="1000">
                          <a:solidFill>
                            <a:srgbClr val="212529"/>
                          </a:solidFill>
                        </a:defRPr>
                      </a:pPr>
                      <a:r>
                        <a:t>str / int64</a:t>
                      </a:r>
                    </a:p>
                  </a:txBody>
                  <a:tcPr>
                    <a:solidFill>
                      <a:srgbClr val="FFFFFF"/>
                    </a:solidFill>
                  </a:tcPr>
                </a:tc>
                <a:tc>
                  <a:txBody>
                    <a:bodyPr/>
                    <a:lstStyle/>
                    <a:p>
                      <a:pPr algn="ctr">
                        <a:defRPr sz="1000">
                          <a:solidFill>
                            <a:srgbClr val="212529"/>
                          </a:solidFill>
                        </a:defRPr>
                      </a:pPr>
                      <a:r>
                        <a:t>Low &lt; Med &lt; High / 1 to 5</a:t>
                      </a:r>
                    </a:p>
                  </a:txBody>
                  <a:tcPr>
                    <a:solidFill>
                      <a:srgbClr val="FFFFFF"/>
                    </a:solidFill>
                  </a:tcPr>
                </a:tc>
                <a:tc>
                  <a:txBody>
                    <a:bodyPr/>
                    <a:lstStyle/>
                    <a:p>
                      <a:pPr>
                        <a:defRPr sz="1000">
                          <a:solidFill>
                            <a:srgbClr val="212529"/>
                          </a:solidFill>
                        </a:defRPr>
                      </a:pPr>
                      <a:r>
                        <a:t>Cell traffic load state &amp; streaming resolution scale</a:t>
                      </a:r>
                    </a:p>
                  </a:txBody>
                  <a:tcPr>
                    <a:solidFill>
                      <a:srgbClr val="FFFFFF"/>
                    </a:solidFill>
                  </a:tcPr>
                </a:tc>
              </a:tr>
              <a:tr h="628650">
                <a:tc>
                  <a:txBody>
                    <a:bodyPr/>
                    <a:lstStyle/>
                    <a:p>
                      <a:pPr>
                        <a:defRPr sz="1000">
                          <a:solidFill>
                            <a:srgbClr val="212529"/>
                          </a:solidFill>
                        </a:defRPr>
                      </a:pPr>
                      <a:r>
                        <a:t>Dropped Connection (Target)</a:t>
                      </a:r>
                    </a:p>
                  </a:txBody>
                  <a:tcPr>
                    <a:solidFill>
                      <a:srgbClr val="F5F8FC"/>
                    </a:solidFill>
                  </a:tcPr>
                </a:tc>
                <a:tc>
                  <a:txBody>
                    <a:bodyPr/>
                    <a:lstStyle/>
                    <a:p>
                      <a:pPr algn="ctr">
                        <a:defRPr sz="1000">
                          <a:solidFill>
                            <a:srgbClr val="212529"/>
                          </a:solidFill>
                        </a:defRPr>
                      </a:pPr>
                      <a:r>
                        <a:t>Binary / Target</a:t>
                      </a:r>
                    </a:p>
                  </a:txBody>
                  <a:tcPr>
                    <a:solidFill>
                      <a:srgbClr val="F5F8FC"/>
                    </a:solidFill>
                  </a:tcPr>
                </a:tc>
                <a:tc>
                  <a:txBody>
                    <a:bodyPr/>
                    <a:lstStyle/>
                    <a:p>
                      <a:pPr algn="ctr">
                        <a:defRPr sz="1000">
                          <a:solidFill>
                            <a:srgbClr val="212529"/>
                          </a:solidFill>
                        </a:defRPr>
                      </a:pPr>
                      <a:r>
                        <a:t>bool (0/1)</a:t>
                      </a:r>
                    </a:p>
                  </a:txBody>
                  <a:tcPr>
                    <a:solidFill>
                      <a:srgbClr val="F5F8FC"/>
                    </a:solidFill>
                  </a:tcPr>
                </a:tc>
                <a:tc>
                  <a:txBody>
                    <a:bodyPr/>
                    <a:lstStyle/>
                    <a:p>
                      <a:pPr algn="ctr">
                        <a:defRPr sz="1000">
                          <a:solidFill>
                            <a:srgbClr val="212529"/>
                          </a:solidFill>
                        </a:defRPr>
                      </a:pPr>
                      <a:r>
                        <a:t>2 classes (50/50 balance)</a:t>
                      </a:r>
                    </a:p>
                  </a:txBody>
                  <a:tcPr>
                    <a:solidFill>
                      <a:srgbClr val="F5F8FC"/>
                    </a:solidFill>
                  </a:tcPr>
                </a:tc>
                <a:tc>
                  <a:txBody>
                    <a:bodyPr/>
                    <a:lstStyle/>
                    <a:p>
                      <a:pPr>
                        <a:defRPr sz="1000">
                          <a:solidFill>
                            <a:srgbClr val="212529"/>
                          </a:solidFill>
                        </a:defRPr>
                      </a:pPr>
                      <a:r>
                        <a:t>Target event: 1 if connection dropped, 0 if active</a:t>
                      </a:r>
                    </a:p>
                  </a:txBody>
                  <a:tcPr>
                    <a:solidFill>
                      <a:srgbClr val="F5F8FC"/>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solidFill>
              <a:srgbClr val="F8F9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8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698480" cy="274320"/>
          </a:xfrm>
          <a:prstGeom prst="rect">
            <a:avLst/>
          </a:prstGeom>
          <a:noFill/>
        </p:spPr>
        <p:txBody>
          <a:bodyPr wrap="square">
            <a:spAutoFit/>
          </a:bodyPr>
          <a:lstStyle/>
          <a:p>
            <a:pPr>
              <a:defRPr sz="1000" b="1">
                <a:solidFill>
                  <a:srgbClr val="10958C"/>
                </a:solidFill>
              </a:defRPr>
            </a:pPr>
            <a:r>
              <a:t>SECTION 2: DATA CLEANING</a:t>
            </a:r>
          </a:p>
        </p:txBody>
      </p:sp>
      <p:sp>
        <p:nvSpPr>
          <p:cNvPr id="5" name="TextBox 4"/>
          <p:cNvSpPr txBox="1"/>
          <p:nvPr/>
        </p:nvSpPr>
        <p:spPr>
          <a:xfrm>
            <a:off x="731520" y="347472"/>
            <a:ext cx="10698480" cy="594360"/>
          </a:xfrm>
          <a:prstGeom prst="rect">
            <a:avLst/>
          </a:prstGeom>
          <a:noFill/>
        </p:spPr>
        <p:txBody>
          <a:bodyPr wrap="square">
            <a:spAutoFit/>
          </a:bodyPr>
          <a:lstStyle/>
          <a:p>
            <a:pPr>
              <a:defRPr sz="2200" b="1">
                <a:solidFill>
                  <a:srgbClr val="FFFFFF"/>
                </a:solidFill>
              </a:defRPr>
            </a:pPr>
            <a:r>
              <a:t>2. Data Cleaning: Duplicate Auditing, Imputation &amp; Metadata Pruning</a:t>
            </a:r>
          </a:p>
        </p:txBody>
      </p:sp>
      <p:sp>
        <p:nvSpPr>
          <p:cNvPr id="6" name="Rounded Rectangle 5"/>
          <p:cNvSpPr/>
          <p:nvPr/>
        </p:nvSpPr>
        <p:spPr>
          <a:xfrm>
            <a:off x="731520" y="1371600"/>
            <a:ext cx="3429000" cy="4937760"/>
          </a:xfrm>
          <a:prstGeom prst="roundRect">
            <a:avLst/>
          </a:prstGeom>
          <a:solidFill>
            <a:srgbClr val="FFFFFF"/>
          </a:solidFill>
          <a:ln w="12700">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554480"/>
            <a:ext cx="3063240" cy="4572000"/>
          </a:xfrm>
          <a:prstGeom prst="rect">
            <a:avLst/>
          </a:prstGeom>
          <a:noFill/>
        </p:spPr>
        <p:txBody>
          <a:bodyPr wrap="square">
            <a:spAutoFit/>
          </a:bodyPr>
          <a:lstStyle/>
          <a:p>
            <a:pPr>
              <a:spcAft>
                <a:spcPts val="1200"/>
              </a:spcAft>
              <a:defRPr sz="1500" b="1">
                <a:solidFill>
                  <a:srgbClr val="182B49"/>
                </a:solidFill>
              </a:defRPr>
            </a:pPr>
            <a:r>
              <a:t>Duplicate &amp; Null Audits</a:t>
            </a:r>
          </a:p>
          <a:p>
            <a:pPr>
              <a:spcAft>
                <a:spcPts val="400"/>
              </a:spcAft>
              <a:defRPr b="1" sz="1100">
                <a:solidFill>
                  <a:srgbClr val="0E74BC"/>
                </a:solidFill>
              </a:defRPr>
            </a:pPr>
            <a:r>
              <a:t>• Exact Duplicate Rows: </a:t>
            </a:r>
            <a:r>
              <a:rPr b="0">
                <a:solidFill>
                  <a:srgbClr val="212529"/>
                </a:solidFill>
              </a:rPr>
              <a:t>0 duplicates detected via df.duplicated().sum().</a:t>
            </a:r>
          </a:p>
          <a:p>
            <a:pPr>
              <a:spcAft>
                <a:spcPts val="400"/>
              </a:spcAft>
              <a:defRPr b="1" sz="1100">
                <a:solidFill>
                  <a:srgbClr val="0E74BC"/>
                </a:solidFill>
              </a:defRPr>
            </a:pPr>
            <a:r>
              <a:t>• Missing Values in CSV: </a:t>
            </a:r>
            <a:r>
              <a:rPr b="0">
                <a:solidFill>
                  <a:srgbClr val="212529"/>
                </a:solidFill>
              </a:rPr>
              <a:t>0 missing values across all 21 raw columns.</a:t>
            </a:r>
          </a:p>
          <a:p>
            <a:pPr>
              <a:spcAft>
                <a:spcPts val="400"/>
              </a:spcAft>
              <a:defRPr b="1" sz="1100">
                <a:solidFill>
                  <a:srgbClr val="0E74BC"/>
                </a:solidFill>
              </a:defRPr>
            </a:pPr>
            <a:r>
              <a:t>• Data Completeness: </a:t>
            </a:r>
            <a:r>
              <a:rPr b="0">
                <a:solidFill>
                  <a:srgbClr val="212529"/>
                </a:solidFill>
              </a:rPr>
              <a:t>100% complete records across 50,000 sessions.</a:t>
            </a:r>
          </a:p>
          <a:p>
            <a:pPr>
              <a:spcAft>
                <a:spcPts val="400"/>
              </a:spcAft>
              <a:defRPr b="1" sz="1100">
                <a:solidFill>
                  <a:srgbClr val="0E74BC"/>
                </a:solidFill>
              </a:defRPr>
            </a:pPr>
            <a:r>
              <a:t>• Verification: </a:t>
            </a:r>
            <a:r>
              <a:rPr b="0">
                <a:solidFill>
                  <a:srgbClr val="212529"/>
                </a:solidFill>
              </a:rPr>
              <a:t>Dataset passed automated schema validation without dropped rows.</a:t>
            </a:r>
          </a:p>
        </p:txBody>
      </p:sp>
      <p:sp>
        <p:nvSpPr>
          <p:cNvPr id="8" name="Rounded Rectangle 7"/>
          <p:cNvSpPr/>
          <p:nvPr/>
        </p:nvSpPr>
        <p:spPr>
          <a:xfrm>
            <a:off x="4343400" y="1371600"/>
            <a:ext cx="3429000" cy="4937760"/>
          </a:xfrm>
          <a:prstGeom prst="roundRect">
            <a:avLst/>
          </a:prstGeom>
          <a:solidFill>
            <a:srgbClr val="FFFFFF"/>
          </a:solidFill>
          <a:ln w="12700">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26280" y="1554480"/>
            <a:ext cx="3063240" cy="4572000"/>
          </a:xfrm>
          <a:prstGeom prst="rect">
            <a:avLst/>
          </a:prstGeom>
          <a:noFill/>
        </p:spPr>
        <p:txBody>
          <a:bodyPr wrap="square">
            <a:spAutoFit/>
          </a:bodyPr>
          <a:lstStyle/>
          <a:p>
            <a:pPr>
              <a:spcAft>
                <a:spcPts val="1200"/>
              </a:spcAft>
              <a:defRPr sz="1500" b="1">
                <a:solidFill>
                  <a:srgbClr val="182B49"/>
                </a:solidFill>
              </a:defRPr>
            </a:pPr>
            <a:r>
              <a:t>Imputation Architecture</a:t>
            </a:r>
          </a:p>
          <a:p>
            <a:pPr>
              <a:spcAft>
                <a:spcPts val="400"/>
              </a:spcAft>
              <a:defRPr b="1" sz="1100">
                <a:solidFill>
                  <a:srgbClr val="0E74BC"/>
                </a:solidFill>
              </a:defRPr>
            </a:pPr>
            <a:r>
              <a:t>• Continuous Numeric: </a:t>
            </a:r>
            <a:r>
              <a:rPr b="0">
                <a:solidFill>
                  <a:srgbClr val="212529"/>
                </a:solidFill>
              </a:rPr>
              <a:t>Impute missing values using the Median (x̃ = median(X)).</a:t>
            </a:r>
          </a:p>
          <a:p>
            <a:pPr>
              <a:spcAft>
                <a:spcPts val="400"/>
              </a:spcAft>
              <a:defRPr b="1" sz="1100">
                <a:solidFill>
                  <a:srgbClr val="0E74BC"/>
                </a:solidFill>
              </a:defRPr>
            </a:pPr>
            <a:r>
              <a:t>• Why Median over Mean? </a:t>
            </a:r>
            <a:r>
              <a:rPr b="0">
                <a:solidFill>
                  <a:srgbClr val="212529"/>
                </a:solidFill>
              </a:rPr>
              <a:t>The mean is distorted by extreme values and skewness, whereas the median preserves the true 50th percentile.</a:t>
            </a:r>
          </a:p>
          <a:p>
            <a:pPr>
              <a:spcAft>
                <a:spcPts val="400"/>
              </a:spcAft>
              <a:defRPr b="1" sz="1100">
                <a:solidFill>
                  <a:srgbClr val="0E74BC"/>
                </a:solidFill>
              </a:defRPr>
            </a:pPr>
            <a:r>
              <a:t>• Categorical &amp; Boolean: </a:t>
            </a:r>
            <a:r>
              <a:rPr b="0">
                <a:solidFill>
                  <a:srgbClr val="212529"/>
                </a:solidFill>
              </a:rPr>
              <a:t>Impute missing values using the Mode (dominant class).</a:t>
            </a:r>
          </a:p>
          <a:p>
            <a:pPr>
              <a:spcAft>
                <a:spcPts val="400"/>
              </a:spcAft>
              <a:defRPr b="1" sz="1100">
                <a:solidFill>
                  <a:srgbClr val="0E74BC"/>
                </a:solidFill>
              </a:defRPr>
            </a:pPr>
            <a:r>
              <a:t>• Why avoid row dropping? </a:t>
            </a:r>
            <a:r>
              <a:rPr b="0">
                <a:solidFill>
                  <a:srgbClr val="212529"/>
                </a:solidFill>
              </a:rPr>
              <a:t>Dropping rows leads to sample attrition and introduces selection bias.</a:t>
            </a:r>
          </a:p>
        </p:txBody>
      </p:sp>
      <p:sp>
        <p:nvSpPr>
          <p:cNvPr id="10" name="Rounded Rectangle 9"/>
          <p:cNvSpPr/>
          <p:nvPr/>
        </p:nvSpPr>
        <p:spPr>
          <a:xfrm>
            <a:off x="7955280" y="1371600"/>
            <a:ext cx="3429000" cy="4937760"/>
          </a:xfrm>
          <a:prstGeom prst="roundRect">
            <a:avLst/>
          </a:prstGeom>
          <a:solidFill>
            <a:srgbClr val="FFFFFF"/>
          </a:solidFill>
          <a:ln w="12700">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38160" y="1554480"/>
            <a:ext cx="3063240" cy="4572000"/>
          </a:xfrm>
          <a:prstGeom prst="rect">
            <a:avLst/>
          </a:prstGeom>
          <a:noFill/>
        </p:spPr>
        <p:txBody>
          <a:bodyPr wrap="square">
            <a:spAutoFit/>
          </a:bodyPr>
          <a:lstStyle/>
          <a:p>
            <a:pPr>
              <a:spcAft>
                <a:spcPts val="1200"/>
              </a:spcAft>
              <a:defRPr sz="1500" b="1">
                <a:solidFill>
                  <a:srgbClr val="182B49"/>
                </a:solidFill>
              </a:defRPr>
            </a:pPr>
            <a:r>
              <a:t>Metadata Pruning &amp; Pipeline</a:t>
            </a:r>
          </a:p>
          <a:p>
            <a:pPr>
              <a:spcAft>
                <a:spcPts val="400"/>
              </a:spcAft>
              <a:defRPr b="1" sz="1100">
                <a:solidFill>
                  <a:srgbClr val="0E74BC"/>
                </a:solidFill>
              </a:defRPr>
            </a:pPr>
            <a:r>
              <a:t>• Timestamp Removal: </a:t>
            </a:r>
            <a:r>
              <a:rPr b="0">
                <a:solidFill>
                  <a:srgbClr val="212529"/>
                </a:solidFill>
              </a:rPr>
              <a:t>Dropped unique session timestamps to eliminate data leakage and spurious memorization.</a:t>
            </a:r>
          </a:p>
          <a:p>
            <a:pPr>
              <a:spcAft>
                <a:spcPts val="400"/>
              </a:spcAft>
              <a:defRPr b="1" sz="1100">
                <a:solidFill>
                  <a:srgbClr val="0E74BC"/>
                </a:solidFill>
              </a:defRPr>
            </a:pPr>
            <a:r>
              <a:t>• ASCII Standardization: </a:t>
            </a:r>
            <a:r>
              <a:rPr b="0">
                <a:solidFill>
                  <a:srgbClr val="212529"/>
                </a:solidFill>
              </a:rPr>
              <a:t>Cleaned column names to remove non-ASCII degree symbols for cross-platform portability.</a:t>
            </a:r>
          </a:p>
          <a:p>
            <a:pPr>
              <a:spcAft>
                <a:spcPts val="400"/>
              </a:spcAft>
              <a:defRPr b="1" sz="1100">
                <a:solidFill>
                  <a:srgbClr val="0E74BC"/>
                </a:solidFill>
              </a:defRPr>
            </a:pPr>
            <a:r>
              <a:t>• Final Feature Space: </a:t>
            </a:r>
            <a:r>
              <a:rPr b="0">
                <a:solidFill>
                  <a:srgbClr val="212529"/>
                </a:solidFill>
              </a:rPr>
              <a:t>Matrix of 50,000 rows × 20 cleaned predictor and target columns.</a:t>
            </a:r>
          </a:p>
          <a:p>
            <a:pPr>
              <a:spcAft>
                <a:spcPts val="400"/>
              </a:spcAft>
              <a:defRPr b="1" sz="1100">
                <a:solidFill>
                  <a:srgbClr val="0E74BC"/>
                </a:solidFill>
              </a:defRPr>
            </a:pPr>
            <a:r>
              <a:t>• Scikit-Learn Integration: </a:t>
            </a:r>
            <a:r>
              <a:rPr b="0">
                <a:solidFill>
                  <a:srgbClr val="212529"/>
                </a:solidFill>
              </a:rPr>
              <a:t>Imputation rules encapsulated into reusable transformer pipelines.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solidFill>
              <a:srgbClr val="F8F9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8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698480" cy="274320"/>
          </a:xfrm>
          <a:prstGeom prst="rect">
            <a:avLst/>
          </a:prstGeom>
          <a:noFill/>
        </p:spPr>
        <p:txBody>
          <a:bodyPr wrap="square">
            <a:spAutoFit/>
          </a:bodyPr>
          <a:lstStyle/>
          <a:p>
            <a:pPr>
              <a:defRPr sz="1000" b="1">
                <a:solidFill>
                  <a:srgbClr val="10958C"/>
                </a:solidFill>
              </a:defRPr>
            </a:pPr>
            <a:r>
              <a:t>SECTION 3: STATISTICAL CHECKS</a:t>
            </a:r>
          </a:p>
        </p:txBody>
      </p:sp>
      <p:sp>
        <p:nvSpPr>
          <p:cNvPr id="5" name="TextBox 4"/>
          <p:cNvSpPr txBox="1"/>
          <p:nvPr/>
        </p:nvSpPr>
        <p:spPr>
          <a:xfrm>
            <a:off x="731520" y="347472"/>
            <a:ext cx="10698480" cy="594360"/>
          </a:xfrm>
          <a:prstGeom prst="rect">
            <a:avLst/>
          </a:prstGeom>
          <a:noFill/>
        </p:spPr>
        <p:txBody>
          <a:bodyPr wrap="square">
            <a:spAutoFit/>
          </a:bodyPr>
          <a:lstStyle/>
          <a:p>
            <a:pPr>
              <a:defRPr sz="2200" b="1">
                <a:solidFill>
                  <a:srgbClr val="FFFFFF"/>
                </a:solidFill>
              </a:defRPr>
            </a:pPr>
            <a:r>
              <a:t>3. Statistical Checks: Normality Testing &amp; Moment Analysis</a:t>
            </a:r>
          </a:p>
        </p:txBody>
      </p:sp>
      <p:sp>
        <p:nvSpPr>
          <p:cNvPr id="6" name="Rounded Rectangle 5"/>
          <p:cNvSpPr/>
          <p:nvPr/>
        </p:nvSpPr>
        <p:spPr>
          <a:xfrm>
            <a:off x="731520" y="1325880"/>
            <a:ext cx="5486400" cy="5029200"/>
          </a:xfrm>
          <a:prstGeom prst="roundRect">
            <a:avLst/>
          </a:prstGeom>
          <a:solidFill>
            <a:srgbClr val="FFFFFF"/>
          </a:solidFill>
          <a:ln w="12700">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463040"/>
            <a:ext cx="5120640" cy="4754880"/>
          </a:xfrm>
          <a:prstGeom prst="rect">
            <a:avLst/>
          </a:prstGeom>
          <a:noFill/>
        </p:spPr>
        <p:txBody>
          <a:bodyPr wrap="square">
            <a:spAutoFit/>
          </a:bodyPr>
          <a:lstStyle/>
          <a:p>
            <a:pPr>
              <a:spcAft>
                <a:spcPts val="800"/>
              </a:spcAft>
              <a:defRPr sz="1500" b="1">
                <a:solidFill>
                  <a:srgbClr val="182B49"/>
                </a:solidFill>
              </a:defRPr>
            </a:pPr>
            <a:r>
              <a:t>Hypothesis Formulation &amp; Shapiro-Wilk Results</a:t>
            </a:r>
          </a:p>
          <a:p>
            <a:pPr>
              <a:spcAft>
                <a:spcPts val="1000"/>
              </a:spcAft>
              <a:defRPr sz="1100" b="1">
                <a:solidFill>
                  <a:srgbClr val="0E74BC"/>
                </a:solidFill>
              </a:defRPr>
            </a:pPr>
            <a:r>
              <a:t>H0: Feature follows a normal distribution N(μ, σ²)</a:t>
            </a:r>
            <a:br/>
            <a:r>
              <a:t>H1: Feature does NOT follow a normal distribution (α = 0.05)</a:t>
            </a:r>
          </a:p>
          <a:p>
            <a:pPr>
              <a:spcAft>
                <a:spcPts val="300"/>
              </a:spcAft>
              <a:defRPr sz="1000" b="1">
                <a:solidFill>
                  <a:srgbClr val="182B49"/>
                </a:solidFill>
              </a:defRPr>
            </a:pPr>
            <a:r>
              <a:t>• Signal Strength (dBm): </a:t>
            </a:r>
            <a:r>
              <a:rPr b="0">
                <a:solidFill>
                  <a:srgbClr val="212529"/>
                </a:solidFill>
              </a:rPr>
              <a:t>W=0.9508, p=5.19e-38 | Skew=-0.011, Kurt=-1.212 → Non-Normal</a:t>
            </a:r>
          </a:p>
          <a:p>
            <a:pPr>
              <a:spcAft>
                <a:spcPts val="300"/>
              </a:spcAft>
              <a:defRPr sz="1000" b="1">
                <a:solidFill>
                  <a:srgbClr val="182B49"/>
                </a:solidFill>
              </a:defRPr>
            </a:pPr>
            <a:r>
              <a:t>• Download Speed (Mbps): </a:t>
            </a:r>
            <a:r>
              <a:rPr b="0">
                <a:solidFill>
                  <a:srgbClr val="212529"/>
                </a:solidFill>
              </a:rPr>
              <a:t>W=0.9527, p=1.97e-37 | Skew=-0.007, Kurt=-1.202 → Non-Normal</a:t>
            </a:r>
          </a:p>
          <a:p>
            <a:pPr>
              <a:spcAft>
                <a:spcPts val="300"/>
              </a:spcAft>
              <a:defRPr sz="1000" b="1">
                <a:solidFill>
                  <a:srgbClr val="182B49"/>
                </a:solidFill>
              </a:defRPr>
            </a:pPr>
            <a:r>
              <a:t>• Upload Speed (Mbps): </a:t>
            </a:r>
            <a:r>
              <a:rPr b="0">
                <a:solidFill>
                  <a:srgbClr val="212529"/>
                </a:solidFill>
              </a:rPr>
              <a:t>W=0.9551, p=1.07e-36 | Skew=+0.010, Kurt=-1.204 → Non-Normal</a:t>
            </a:r>
          </a:p>
          <a:p>
            <a:pPr>
              <a:spcAft>
                <a:spcPts val="300"/>
              </a:spcAft>
              <a:defRPr sz="1000" b="1">
                <a:solidFill>
                  <a:srgbClr val="182B49"/>
                </a:solidFill>
              </a:defRPr>
            </a:pPr>
            <a:r>
              <a:t>• Latency (ms): </a:t>
            </a:r>
            <a:r>
              <a:rPr b="0">
                <a:solidFill>
                  <a:srgbClr val="212529"/>
                </a:solidFill>
              </a:rPr>
              <a:t>W=0.9531, p=2.53e-37 | Skew=-0.001, Kurt=-1.203 → Non-Normal</a:t>
            </a:r>
          </a:p>
          <a:p>
            <a:pPr>
              <a:spcAft>
                <a:spcPts val="300"/>
              </a:spcAft>
              <a:defRPr sz="1000" b="1">
                <a:solidFill>
                  <a:srgbClr val="182B49"/>
                </a:solidFill>
              </a:defRPr>
            </a:pPr>
            <a:r>
              <a:t>• Jitter (ms): </a:t>
            </a:r>
            <a:r>
              <a:rPr b="0">
                <a:solidFill>
                  <a:srgbClr val="212529"/>
                </a:solidFill>
              </a:rPr>
              <a:t>W=0.9561, p=2.38e-36 | Skew=-0.009, Kurt=-1.201 → Non-Normal</a:t>
            </a:r>
          </a:p>
          <a:p>
            <a:pPr>
              <a:spcAft>
                <a:spcPts val="300"/>
              </a:spcAft>
              <a:defRPr sz="1000" b="1">
                <a:solidFill>
                  <a:srgbClr val="182B49"/>
                </a:solidFill>
              </a:defRPr>
            </a:pPr>
            <a:r>
              <a:t>• Temperature (°C): </a:t>
            </a:r>
            <a:r>
              <a:rPr b="0">
                <a:solidFill>
                  <a:srgbClr val="212529"/>
                </a:solidFill>
              </a:rPr>
              <a:t>W=0.9545, p=6.88e-37 | Skew=+0.007, Kurt=-1.198 → Non-Normal</a:t>
            </a:r>
          </a:p>
        </p:txBody>
      </p:sp>
      <p:sp>
        <p:nvSpPr>
          <p:cNvPr id="8" name="Rounded Rectangle 7"/>
          <p:cNvSpPr/>
          <p:nvPr/>
        </p:nvSpPr>
        <p:spPr>
          <a:xfrm>
            <a:off x="6400800" y="1325880"/>
            <a:ext cx="5059375" cy="5029200"/>
          </a:xfrm>
          <a:prstGeom prst="roundRect">
            <a:avLst/>
          </a:prstGeom>
          <a:solidFill>
            <a:srgbClr val="FFFFFF"/>
          </a:solidFill>
          <a:ln w="12700">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0" y="1463040"/>
            <a:ext cx="4693615" cy="4754880"/>
          </a:xfrm>
          <a:prstGeom prst="rect">
            <a:avLst/>
          </a:prstGeom>
          <a:noFill/>
        </p:spPr>
        <p:txBody>
          <a:bodyPr wrap="square">
            <a:spAutoFit/>
          </a:bodyPr>
          <a:lstStyle/>
          <a:p>
            <a:pPr>
              <a:spcAft>
                <a:spcPts val="1000"/>
              </a:spcAft>
              <a:defRPr sz="1500" b="1">
                <a:solidFill>
                  <a:srgbClr val="182B49"/>
                </a:solidFill>
              </a:defRPr>
            </a:pPr>
            <a:r>
              <a:t>Mathematical Proof of Uniform Distribution</a:t>
            </a:r>
          </a:p>
          <a:p>
            <a:pPr>
              <a:spcAft>
                <a:spcPts val="400"/>
              </a:spcAft>
              <a:defRPr sz="1100" b="1">
                <a:solidFill>
                  <a:srgbClr val="10958C"/>
                </a:solidFill>
              </a:defRPr>
            </a:pPr>
            <a:r>
              <a:t>• Severe Rejection of Normality: </a:t>
            </a:r>
            <a:r>
              <a:rPr b="0">
                <a:solidFill>
                  <a:srgbClr val="212529"/>
                </a:solidFill>
              </a:rPr>
              <a:t>For all features, p &lt; 10^-35 (p &lt;&lt; 0.05). We decisively reject the null hypothesis of Gaussian distribution.</a:t>
            </a:r>
          </a:p>
          <a:p>
            <a:pPr>
              <a:spcAft>
                <a:spcPts val="400"/>
              </a:spcAft>
              <a:defRPr sz="1100" b="1">
                <a:solidFill>
                  <a:srgbClr val="10958C"/>
                </a:solidFill>
              </a:defRPr>
            </a:pPr>
            <a:r>
              <a:t>• Symmetry Property: </a:t>
            </a:r>
            <a:r>
              <a:rPr b="0">
                <a:solidFill>
                  <a:srgbClr val="212529"/>
                </a:solidFill>
              </a:rPr>
              <a:t>Skewness is approximately 0.000 across all variables, indicating symmetric distributions around the center.</a:t>
            </a:r>
          </a:p>
          <a:p>
            <a:pPr>
              <a:spcAft>
                <a:spcPts val="400"/>
              </a:spcAft>
              <a:defRPr sz="1100" b="1">
                <a:solidFill>
                  <a:srgbClr val="10958C"/>
                </a:solidFill>
              </a:defRPr>
            </a:pPr>
            <a:r>
              <a:t>• Excess Kurtosis of -1.20: </a:t>
            </a:r>
            <a:r>
              <a:rPr b="0">
                <a:solidFill>
                  <a:srgbClr val="212529"/>
                </a:solidFill>
              </a:rPr>
              <a:t>Normal distributions have excess kurtosis κ = 0. A continuous uniform distribution U(a, b) has theoretical kurtosis κ = -6/5 = -1.20.</a:t>
            </a:r>
          </a:p>
          <a:p>
            <a:pPr>
              <a:spcAft>
                <a:spcPts val="400"/>
              </a:spcAft>
              <a:defRPr sz="1100" b="1">
                <a:solidFill>
                  <a:srgbClr val="10958C"/>
                </a:solidFill>
              </a:defRPr>
            </a:pPr>
            <a:r>
              <a:t>• Empirical Confirmation: </a:t>
            </a:r>
            <a:r>
              <a:rPr b="0">
                <a:solidFill>
                  <a:srgbClr val="212529"/>
                </a:solidFill>
              </a:rPr>
              <a:t>Because our features exhibit excess kurtosis of exactly -1.20, they represent bounded continuous uniform telemetry rather than Gaussian bell curves.</a:t>
            </a:r>
          </a:p>
          <a:p>
            <a:pPr>
              <a:spcAft>
                <a:spcPts val="400"/>
              </a:spcAft>
              <a:defRPr sz="1100" b="1">
                <a:solidFill>
                  <a:srgbClr val="10958C"/>
                </a:solidFill>
              </a:defRPr>
            </a:pPr>
            <a:r>
              <a:t>• Impact on Modeling: </a:t>
            </a:r>
            <a:r>
              <a:rPr b="0">
                <a:solidFill>
                  <a:srgbClr val="212529"/>
                </a:solidFill>
              </a:rPr>
              <a:t>Standard linear models assuming normal residuals must be supplemented with non-linear models that do not rely on Gaussian assumptions.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solidFill>
              <a:srgbClr val="F8F9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8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698480" cy="274320"/>
          </a:xfrm>
          <a:prstGeom prst="rect">
            <a:avLst/>
          </a:prstGeom>
          <a:noFill/>
        </p:spPr>
        <p:txBody>
          <a:bodyPr wrap="square">
            <a:spAutoFit/>
          </a:bodyPr>
          <a:lstStyle/>
          <a:p>
            <a:pPr>
              <a:defRPr sz="1000" b="1">
                <a:solidFill>
                  <a:srgbClr val="10958C"/>
                </a:solidFill>
              </a:defRPr>
            </a:pPr>
            <a:r>
              <a:t>SECTION 3: STATISTICAL CHECKS</a:t>
            </a:r>
          </a:p>
        </p:txBody>
      </p:sp>
      <p:sp>
        <p:nvSpPr>
          <p:cNvPr id="5" name="TextBox 4"/>
          <p:cNvSpPr txBox="1"/>
          <p:nvPr/>
        </p:nvSpPr>
        <p:spPr>
          <a:xfrm>
            <a:off x="731520" y="347472"/>
            <a:ext cx="10698480" cy="594360"/>
          </a:xfrm>
          <a:prstGeom prst="rect">
            <a:avLst/>
          </a:prstGeom>
          <a:noFill/>
        </p:spPr>
        <p:txBody>
          <a:bodyPr wrap="square">
            <a:spAutoFit/>
          </a:bodyPr>
          <a:lstStyle/>
          <a:p>
            <a:pPr>
              <a:defRPr sz="2200" b="1">
                <a:solidFill>
                  <a:srgbClr val="FFFFFF"/>
                </a:solidFill>
              </a:defRPr>
            </a:pPr>
            <a:r>
              <a:t>3. Statistical Checks: Normality Q-Q Plots &amp; Outlier Fences</a:t>
            </a:r>
          </a:p>
        </p:txBody>
      </p:sp>
      <p:pic>
        <p:nvPicPr>
          <p:cNvPr id="6" name="Picture 5" descr="02_normality_checks_distribution_qq.png"/>
          <p:cNvPicPr>
            <a:picLocks noChangeAspect="1"/>
          </p:cNvPicPr>
          <p:nvPr/>
        </p:nvPicPr>
        <p:blipFill>
          <a:blip r:embed="rId2"/>
          <a:stretch>
            <a:fillRect/>
          </a:stretch>
        </p:blipFill>
        <p:spPr>
          <a:xfrm>
            <a:off x="731520" y="1325880"/>
            <a:ext cx="5212080" cy="5212080"/>
          </a:xfrm>
          <a:prstGeom prst="rect">
            <a:avLst/>
          </a:prstGeom>
        </p:spPr>
      </p:pic>
      <p:sp>
        <p:nvSpPr>
          <p:cNvPr id="7" name="Rounded Rectangle 6"/>
          <p:cNvSpPr/>
          <p:nvPr/>
        </p:nvSpPr>
        <p:spPr>
          <a:xfrm>
            <a:off x="6126480" y="1325880"/>
            <a:ext cx="5333695" cy="2377440"/>
          </a:xfrm>
          <a:prstGeom prst="roundRect">
            <a:avLst/>
          </a:prstGeom>
          <a:solidFill>
            <a:srgbClr val="FFFFFF"/>
          </a:solidFill>
          <a:ln w="12700">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63640" y="1417320"/>
            <a:ext cx="5029200" cy="2194560"/>
          </a:xfrm>
          <a:prstGeom prst="rect">
            <a:avLst/>
          </a:prstGeom>
          <a:noFill/>
        </p:spPr>
        <p:txBody>
          <a:bodyPr wrap="square">
            <a:spAutoFit/>
          </a:bodyPr>
          <a:lstStyle/>
          <a:p>
            <a:pPr>
              <a:spcAft>
                <a:spcPts val="400"/>
              </a:spcAft>
              <a:defRPr sz="1300" b="1">
                <a:solidFill>
                  <a:srgbClr val="182B49"/>
                </a:solidFill>
              </a:defRPr>
            </a:pPr>
            <a:r>
              <a:t>Tukey's IQR Outlier Detection (Fences Analysis)</a:t>
            </a:r>
          </a:p>
          <a:p>
            <a:pPr>
              <a:spcAft>
                <a:spcPts val="200"/>
              </a:spcAft>
              <a:defRPr sz="1000" b="1">
                <a:solidFill>
                  <a:srgbClr val="0E74BC"/>
                </a:solidFill>
              </a:defRPr>
            </a:pPr>
            <a:r>
              <a:t>• Formula: </a:t>
            </a:r>
            <a:r>
              <a:rPr b="0">
                <a:solidFill>
                  <a:srgbClr val="212529"/>
                </a:solidFill>
              </a:rPr>
              <a:t>IQR = Q3 - Q1 | Fences: [Q1 - 1.5*IQR, Q3 + 1.5*IQR]</a:t>
            </a:r>
          </a:p>
          <a:p>
            <a:pPr>
              <a:spcAft>
                <a:spcPts val="200"/>
              </a:spcAft>
              <a:defRPr sz="1000" b="1">
                <a:solidFill>
                  <a:srgbClr val="0E74BC"/>
                </a:solidFill>
              </a:defRPr>
            </a:pPr>
            <a:r>
              <a:t>• Outlier Count: </a:t>
            </a:r>
            <a:r>
              <a:rPr b="0">
                <a:solidFill>
                  <a:srgbClr val="212529"/>
                </a:solidFill>
              </a:rPr>
              <a:t>0 outliers detected across all continuous and discrete features.</a:t>
            </a:r>
          </a:p>
          <a:p>
            <a:pPr>
              <a:spcAft>
                <a:spcPts val="200"/>
              </a:spcAft>
              <a:defRPr sz="1000" b="1">
                <a:solidFill>
                  <a:srgbClr val="0E74BC"/>
                </a:solidFill>
              </a:defRPr>
            </a:pPr>
            <a:r>
              <a:t>• Mathematical Reason: </a:t>
            </a:r>
            <a:r>
              <a:rPr b="0">
                <a:solidFill>
                  <a:srgbClr val="212529"/>
                </a:solidFill>
              </a:rPr>
              <a:t>For uniform distribution U(a,b), IQR = 0.5*(b-a). Fences extend from a - 0.5*(b-a) to b + 0.5*(b-a), safely enclosing 100% of data points.</a:t>
            </a:r>
          </a:p>
          <a:p>
            <a:pPr>
              <a:spcAft>
                <a:spcPts val="200"/>
              </a:spcAft>
              <a:defRPr sz="1000" b="1">
                <a:solidFill>
                  <a:srgbClr val="0E74BC"/>
                </a:solidFill>
              </a:defRPr>
            </a:pPr>
            <a:r>
              <a:t>• Production Strategy: </a:t>
            </a:r>
            <a:r>
              <a:rPr b="0">
                <a:solidFill>
                  <a:srgbClr val="212529"/>
                </a:solidFill>
              </a:rPr>
              <a:t>If live anomalies occur (e.g. Ping &gt; 500ms), we apply Winsorization (clipping at 1.5 IQR fences) or RobustScaler.</a:t>
            </a:r>
          </a:p>
        </p:txBody>
      </p:sp>
      <p:pic>
        <p:nvPicPr>
          <p:cNvPr id="9" name="Picture 8" descr="03_outlier_detection_boxplots.png"/>
          <p:cNvPicPr>
            <a:picLocks noChangeAspect="1"/>
          </p:cNvPicPr>
          <p:nvPr/>
        </p:nvPicPr>
        <p:blipFill>
          <a:blip r:embed="rId3"/>
          <a:stretch>
            <a:fillRect/>
          </a:stretch>
        </p:blipFill>
        <p:spPr>
          <a:xfrm>
            <a:off x="6126480" y="3840480"/>
            <a:ext cx="5333695" cy="2285869"/>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solidFill>
              <a:srgbClr val="F8F9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8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698480" cy="274320"/>
          </a:xfrm>
          <a:prstGeom prst="rect">
            <a:avLst/>
          </a:prstGeom>
          <a:noFill/>
        </p:spPr>
        <p:txBody>
          <a:bodyPr wrap="square">
            <a:spAutoFit/>
          </a:bodyPr>
          <a:lstStyle/>
          <a:p>
            <a:pPr>
              <a:defRPr sz="1000" b="1">
                <a:solidFill>
                  <a:srgbClr val="10958C"/>
                </a:solidFill>
              </a:defRPr>
            </a:pPr>
            <a:r>
              <a:t>SECTION 4: DATA PREPROCESSING</a:t>
            </a:r>
          </a:p>
        </p:txBody>
      </p:sp>
      <p:sp>
        <p:nvSpPr>
          <p:cNvPr id="5" name="TextBox 4"/>
          <p:cNvSpPr txBox="1"/>
          <p:nvPr/>
        </p:nvSpPr>
        <p:spPr>
          <a:xfrm>
            <a:off x="731520" y="347472"/>
            <a:ext cx="10698480" cy="594360"/>
          </a:xfrm>
          <a:prstGeom prst="rect">
            <a:avLst/>
          </a:prstGeom>
          <a:noFill/>
        </p:spPr>
        <p:txBody>
          <a:bodyPr wrap="square">
            <a:spAutoFit/>
          </a:bodyPr>
          <a:lstStyle/>
          <a:p>
            <a:pPr>
              <a:defRPr sz="2200" b="1">
                <a:solidFill>
                  <a:srgbClr val="FFFFFF"/>
                </a:solidFill>
              </a:defRPr>
            </a:pPr>
            <a:r>
              <a:t>4. Data Preprocessing: Standardization vs. Normalization</a:t>
            </a:r>
          </a:p>
        </p:txBody>
      </p:sp>
      <p:sp>
        <p:nvSpPr>
          <p:cNvPr id="6" name="Rounded Rectangle 5"/>
          <p:cNvSpPr/>
          <p:nvPr/>
        </p:nvSpPr>
        <p:spPr>
          <a:xfrm>
            <a:off x="731520" y="1325880"/>
            <a:ext cx="5303520" cy="5029200"/>
          </a:xfrm>
          <a:prstGeom prst="roundRect">
            <a:avLst/>
          </a:prstGeom>
          <a:solidFill>
            <a:srgbClr val="FFFFFF"/>
          </a:solidFill>
          <a:ln w="12700">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463040"/>
            <a:ext cx="4937760" cy="4754880"/>
          </a:xfrm>
          <a:prstGeom prst="rect">
            <a:avLst/>
          </a:prstGeom>
          <a:noFill/>
        </p:spPr>
        <p:txBody>
          <a:bodyPr wrap="square">
            <a:spAutoFit/>
          </a:bodyPr>
          <a:lstStyle/>
          <a:p>
            <a:pPr>
              <a:spcAft>
                <a:spcPts val="800"/>
              </a:spcAft>
              <a:defRPr sz="1500" b="1">
                <a:solidFill>
                  <a:srgbClr val="182B49"/>
                </a:solidFill>
              </a:defRPr>
            </a:pPr>
            <a:r>
              <a:t>Mathematical Formulations &amp; Algorithmic Rationale</a:t>
            </a:r>
          </a:p>
          <a:p>
            <a:pPr>
              <a:defRPr sz="1100" b="1">
                <a:solidFill>
                  <a:srgbClr val="182B49"/>
                </a:solidFill>
              </a:defRPr>
            </a:pPr>
            <a:r>
              <a:t>• Standardization (Z-Score): </a:t>
            </a:r>
          </a:p>
          <a:p>
            <a:pPr>
              <a:defRPr sz="1000" b="1">
                <a:solidFill>
                  <a:srgbClr val="0E74BC"/>
                </a:solidFill>
              </a:defRPr>
            </a:pPr>
            <a:r>
              <a:t>   Formula / Model: z = (x - μ) / σ</a:t>
            </a:r>
          </a:p>
          <a:p>
            <a:pPr>
              <a:spcAft>
                <a:spcPts val="400"/>
              </a:spcAft>
              <a:defRPr sz="1000">
                <a:solidFill>
                  <a:srgbClr val="212529"/>
                </a:solidFill>
              </a:defRPr>
            </a:pPr>
            <a:r>
              <a:t>   Justification: Transforms feature to zero mean (μ=0) and unit variance (σ=1). Preserves outlier relationships without bounded limits.</a:t>
            </a:r>
          </a:p>
          <a:p>
            <a:pPr>
              <a:defRPr sz="1100" b="1">
                <a:solidFill>
                  <a:srgbClr val="182B49"/>
                </a:solidFill>
              </a:defRPr>
            </a:pPr>
            <a:r>
              <a:t>• Logistic Regression Scaling: </a:t>
            </a:r>
          </a:p>
          <a:p>
            <a:pPr>
              <a:defRPr sz="1000" b="1">
                <a:solidFill>
                  <a:srgbClr val="0E74BC"/>
                </a:solidFill>
              </a:defRPr>
            </a:pPr>
            <a:r>
              <a:t>   Formula / Model: Loss Surface Convergence</a:t>
            </a:r>
          </a:p>
          <a:p>
            <a:pPr>
              <a:spcAft>
                <a:spcPts val="400"/>
              </a:spcAft>
              <a:defRPr sz="1000">
                <a:solidFill>
                  <a:srgbClr val="212529"/>
                </a:solidFill>
              </a:defRPr>
            </a:pPr>
            <a:r>
              <a:t>   Justification: Gradient descent optimization converges along circular loss contours rather than highly eccentric ellipses, preventing gradient oscillation.</a:t>
            </a:r>
          </a:p>
          <a:p>
            <a:pPr>
              <a:defRPr sz="1100" b="1">
                <a:solidFill>
                  <a:srgbClr val="182B49"/>
                </a:solidFill>
              </a:defRPr>
            </a:pPr>
            <a:r>
              <a:t>• Normalization (Min-Max Scaling): </a:t>
            </a:r>
          </a:p>
          <a:p>
            <a:pPr>
              <a:defRPr sz="1000" b="1">
                <a:solidFill>
                  <a:srgbClr val="0E74BC"/>
                </a:solidFill>
              </a:defRPr>
            </a:pPr>
            <a:r>
              <a:t>   Formula / Model: x' = (x - x_min) / (x_max - x_min)</a:t>
            </a:r>
          </a:p>
          <a:p>
            <a:pPr>
              <a:spcAft>
                <a:spcPts val="400"/>
              </a:spcAft>
              <a:defRPr sz="1000">
                <a:solidFill>
                  <a:srgbClr val="212529"/>
                </a:solidFill>
              </a:defRPr>
            </a:pPr>
            <a:r>
              <a:t>   Justification: Compresses features strictly into [0, 1]. Necessary for distance algorithms (k-NN) where scale differences distort Euclidean distances.</a:t>
            </a:r>
          </a:p>
          <a:p>
            <a:pPr>
              <a:defRPr sz="1100" b="1">
                <a:solidFill>
                  <a:srgbClr val="182B49"/>
                </a:solidFill>
              </a:defRPr>
            </a:pPr>
            <a:r>
              <a:t>• Tree-Based Invariance: </a:t>
            </a:r>
          </a:p>
          <a:p>
            <a:pPr>
              <a:defRPr sz="1000" b="1">
                <a:solidFill>
                  <a:srgbClr val="0E74BC"/>
                </a:solidFill>
              </a:defRPr>
            </a:pPr>
            <a:r>
              <a:t>   Formula / Model: Random Forest &amp; Gradient Boosting</a:t>
            </a:r>
          </a:p>
          <a:p>
            <a:pPr>
              <a:spcAft>
                <a:spcPts val="400"/>
              </a:spcAft>
              <a:defRPr sz="1000">
                <a:solidFill>
                  <a:srgbClr val="212529"/>
                </a:solidFill>
              </a:defRPr>
            </a:pPr>
            <a:r>
              <a:t>   Justification: Mathematically invariant to monotonic feature scaling because split candidates depend solely on rank order thresholds that maximize Gini impurity decrease.</a:t>
            </a:r>
          </a:p>
        </p:txBody>
      </p:sp>
      <p:pic>
        <p:nvPicPr>
          <p:cNvPr id="8" name="Picture 7" descr="04_feature_scaling_comparison.png"/>
          <p:cNvPicPr>
            <a:picLocks noChangeAspect="1"/>
          </p:cNvPicPr>
          <p:nvPr/>
        </p:nvPicPr>
        <p:blipFill>
          <a:blip r:embed="rId2"/>
          <a:stretch>
            <a:fillRect/>
          </a:stretch>
        </p:blipFill>
        <p:spPr>
          <a:xfrm>
            <a:off x="6217920" y="1691640"/>
            <a:ext cx="5212080" cy="130302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solidFill>
              <a:srgbClr val="F8F9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8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698480" cy="274320"/>
          </a:xfrm>
          <a:prstGeom prst="rect">
            <a:avLst/>
          </a:prstGeom>
          <a:noFill/>
        </p:spPr>
        <p:txBody>
          <a:bodyPr wrap="square">
            <a:spAutoFit/>
          </a:bodyPr>
          <a:lstStyle/>
          <a:p>
            <a:pPr>
              <a:defRPr sz="1000" b="1">
                <a:solidFill>
                  <a:srgbClr val="10958C"/>
                </a:solidFill>
              </a:defRPr>
            </a:pPr>
            <a:r>
              <a:t>SECTION 4: DATA PREPROCESSING</a:t>
            </a:r>
          </a:p>
        </p:txBody>
      </p:sp>
      <p:sp>
        <p:nvSpPr>
          <p:cNvPr id="5" name="TextBox 4"/>
          <p:cNvSpPr txBox="1"/>
          <p:nvPr/>
        </p:nvSpPr>
        <p:spPr>
          <a:xfrm>
            <a:off x="731520" y="347472"/>
            <a:ext cx="10698480" cy="594360"/>
          </a:xfrm>
          <a:prstGeom prst="rect">
            <a:avLst/>
          </a:prstGeom>
          <a:noFill/>
        </p:spPr>
        <p:txBody>
          <a:bodyPr wrap="square">
            <a:spAutoFit/>
          </a:bodyPr>
          <a:lstStyle/>
          <a:p>
            <a:pPr>
              <a:defRPr sz="2200" b="1">
                <a:solidFill>
                  <a:srgbClr val="FFFFFF"/>
                </a:solidFill>
              </a:defRPr>
            </a:pPr>
            <a:r>
              <a:t>4. Data Preprocessing: Encoding Schemes &amp; Data Leakage Prevention</a:t>
            </a:r>
          </a:p>
        </p:txBody>
      </p:sp>
      <p:sp>
        <p:nvSpPr>
          <p:cNvPr id="6" name="Rounded Rectangle 5"/>
          <p:cNvSpPr/>
          <p:nvPr/>
        </p:nvSpPr>
        <p:spPr>
          <a:xfrm>
            <a:off x="731520" y="1371600"/>
            <a:ext cx="3429000" cy="4937760"/>
          </a:xfrm>
          <a:prstGeom prst="roundRect">
            <a:avLst/>
          </a:prstGeom>
          <a:solidFill>
            <a:srgbClr val="FFFFFF"/>
          </a:solidFill>
          <a:ln w="12700">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554480"/>
            <a:ext cx="3063240" cy="4572000"/>
          </a:xfrm>
          <a:prstGeom prst="rect">
            <a:avLst/>
          </a:prstGeom>
          <a:noFill/>
        </p:spPr>
        <p:txBody>
          <a:bodyPr wrap="square">
            <a:spAutoFit/>
          </a:bodyPr>
          <a:lstStyle/>
          <a:p>
            <a:pPr>
              <a:spcAft>
                <a:spcPts val="1200"/>
              </a:spcAft>
              <a:defRPr sz="1500" b="1">
                <a:solidFill>
                  <a:srgbClr val="182B49"/>
                </a:solidFill>
              </a:defRPr>
            </a:pPr>
            <a:r>
              <a:t>Strict Featurization Ordering</a:t>
            </a:r>
          </a:p>
          <a:p>
            <a:pPr>
              <a:spcAft>
                <a:spcPts val="400"/>
              </a:spcAft>
              <a:defRPr sz="1100" b="1">
                <a:solidFill>
                  <a:srgbClr val="10958C"/>
                </a:solidFill>
              </a:defRPr>
            </a:pPr>
            <a:r>
              <a:t>• Data Leakage Rule: </a:t>
            </a:r>
            <a:r>
              <a:rPr b="0">
                <a:solidFill>
                  <a:srgbClr val="212529"/>
                </a:solidFill>
              </a:rPr>
              <a:t>Partitioned 80% train (40,000) and 20% test (10,000) sets BEFORE fitting any scalers or encoders.</a:t>
            </a:r>
          </a:p>
          <a:p>
            <a:pPr>
              <a:spcAft>
                <a:spcPts val="400"/>
              </a:spcAft>
              <a:defRPr sz="1100" b="1">
                <a:solidFill>
                  <a:srgbClr val="10958C"/>
                </a:solidFill>
              </a:defRPr>
            </a:pPr>
            <a:r>
              <a:t>• No Test Contamination: </a:t>
            </a:r>
            <a:r>
              <a:rPr b="0">
                <a:solidFill>
                  <a:srgbClr val="212529"/>
                </a:solidFill>
              </a:rPr>
              <a:t>Scalers compute μ, σ, min, and max exclusively on X_train. Test set statistics remain strictly isolated.</a:t>
            </a:r>
          </a:p>
          <a:p>
            <a:pPr>
              <a:spcAft>
                <a:spcPts val="400"/>
              </a:spcAft>
              <a:defRPr sz="1100" b="1">
                <a:solidFill>
                  <a:srgbClr val="10958C"/>
                </a:solidFill>
              </a:defRPr>
            </a:pPr>
            <a:r>
              <a:t>• Stratified Splitting: </a:t>
            </a:r>
            <a:r>
              <a:rPr b="0">
                <a:solidFill>
                  <a:srgbClr val="212529"/>
                </a:solidFill>
              </a:rPr>
              <a:t>Preserved the 50/50 target class ratio identically in both train and test splits.</a:t>
            </a:r>
          </a:p>
        </p:txBody>
      </p:sp>
      <p:sp>
        <p:nvSpPr>
          <p:cNvPr id="8" name="Rounded Rectangle 7"/>
          <p:cNvSpPr/>
          <p:nvPr/>
        </p:nvSpPr>
        <p:spPr>
          <a:xfrm>
            <a:off x="4343400" y="1371600"/>
            <a:ext cx="3429000" cy="4937760"/>
          </a:xfrm>
          <a:prstGeom prst="roundRect">
            <a:avLst/>
          </a:prstGeom>
          <a:solidFill>
            <a:srgbClr val="FFFFFF"/>
          </a:solidFill>
          <a:ln w="12700">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26280" y="1554480"/>
            <a:ext cx="3063240" cy="4572000"/>
          </a:xfrm>
          <a:prstGeom prst="rect">
            <a:avLst/>
          </a:prstGeom>
          <a:noFill/>
        </p:spPr>
        <p:txBody>
          <a:bodyPr wrap="square">
            <a:spAutoFit/>
          </a:bodyPr>
          <a:lstStyle/>
          <a:p>
            <a:pPr>
              <a:spcAft>
                <a:spcPts val="1200"/>
              </a:spcAft>
              <a:defRPr sz="1500" b="1">
                <a:solidFill>
                  <a:srgbClr val="182B49"/>
                </a:solidFill>
              </a:defRPr>
            </a:pPr>
            <a:r>
              <a:t>Categorical Encoding Schemes</a:t>
            </a:r>
          </a:p>
          <a:p>
            <a:pPr>
              <a:spcAft>
                <a:spcPts val="400"/>
              </a:spcAft>
              <a:defRPr sz="1100" b="1">
                <a:solidFill>
                  <a:srgbClr val="10958C"/>
                </a:solidFill>
              </a:defRPr>
            </a:pPr>
            <a:r>
              <a:t>• Nominal Features: </a:t>
            </a:r>
            <a:r>
              <a:rPr b="0">
                <a:solidFill>
                  <a:srgbClr val="212529"/>
                </a:solidFill>
              </a:rPr>
              <a:t>OneHotEncoder(drop='first', handle_unknown='ignore') applied to Location, Carrier, Network Type, Device Model, and Band.</a:t>
            </a:r>
          </a:p>
          <a:p>
            <a:pPr>
              <a:spcAft>
                <a:spcPts val="400"/>
              </a:spcAft>
              <a:defRPr sz="1100" b="1">
                <a:solidFill>
                  <a:srgbClr val="10958C"/>
                </a:solidFill>
              </a:defRPr>
            </a:pPr>
            <a:r>
              <a:t>• Dummy Variable Trap: </a:t>
            </a:r>
            <a:r>
              <a:rPr b="0">
                <a:solidFill>
                  <a:srgbClr val="212529"/>
                </a:solidFill>
              </a:rPr>
              <a:t>Using drop='first' avoids perfect multicollinearity, ensuring full rank for Logistic Regression.</a:t>
            </a:r>
          </a:p>
          <a:p>
            <a:pPr>
              <a:spcAft>
                <a:spcPts val="400"/>
              </a:spcAft>
              <a:defRPr sz="1100" b="1">
                <a:solidFill>
                  <a:srgbClr val="10958C"/>
                </a:solidFill>
              </a:defRPr>
            </a:pPr>
            <a:r>
              <a:t>• Ordinal Features: </a:t>
            </a:r>
            <a:r>
              <a:rPr b="0">
                <a:solidFill>
                  <a:srgbClr val="212529"/>
                </a:solidFill>
              </a:rPr>
              <a:t>OrdinalEncoder with explicit ordering: Low (0) &lt; Medium (1) &lt; High (2) for Congestion Level.</a:t>
            </a:r>
          </a:p>
        </p:txBody>
      </p:sp>
      <p:sp>
        <p:nvSpPr>
          <p:cNvPr id="10" name="Rounded Rectangle 9"/>
          <p:cNvSpPr/>
          <p:nvPr/>
        </p:nvSpPr>
        <p:spPr>
          <a:xfrm>
            <a:off x="7955280" y="1371600"/>
            <a:ext cx="3429000" cy="4937760"/>
          </a:xfrm>
          <a:prstGeom prst="roundRect">
            <a:avLst/>
          </a:prstGeom>
          <a:solidFill>
            <a:srgbClr val="FFFFFF"/>
          </a:solidFill>
          <a:ln w="12700">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38160" y="1554480"/>
            <a:ext cx="3063240" cy="4572000"/>
          </a:xfrm>
          <a:prstGeom prst="rect">
            <a:avLst/>
          </a:prstGeom>
          <a:noFill/>
        </p:spPr>
        <p:txBody>
          <a:bodyPr wrap="square">
            <a:spAutoFit/>
          </a:bodyPr>
          <a:lstStyle/>
          <a:p>
            <a:pPr>
              <a:spcAft>
                <a:spcPts val="1200"/>
              </a:spcAft>
              <a:defRPr sz="1500" b="1">
                <a:solidFill>
                  <a:srgbClr val="182B49"/>
                </a:solidFill>
              </a:defRPr>
            </a:pPr>
            <a:r>
              <a:t>Scikit-Learn Pipeline Architecture</a:t>
            </a:r>
          </a:p>
          <a:p>
            <a:pPr>
              <a:spcAft>
                <a:spcPts val="400"/>
              </a:spcAft>
              <a:defRPr sz="1100" b="1">
                <a:solidFill>
                  <a:srgbClr val="10958C"/>
                </a:solidFill>
              </a:defRPr>
            </a:pPr>
            <a:r>
              <a:t>• ColumnTransformer: </a:t>
            </a:r>
            <a:r>
              <a:rPr b="0">
                <a:solidFill>
                  <a:srgbClr val="212529"/>
                </a:solidFill>
              </a:rPr>
              <a:t>Applies numerical scalers, nominal encoders, and ordinal mappings concurrently in one transformation block.</a:t>
            </a:r>
          </a:p>
          <a:p>
            <a:pPr>
              <a:spcAft>
                <a:spcPts val="400"/>
              </a:spcAft>
              <a:defRPr sz="1100" b="1">
                <a:solidFill>
                  <a:srgbClr val="10958C"/>
                </a:solidFill>
              </a:defRPr>
            </a:pPr>
            <a:r>
              <a:t>• Pipeline Encapsulation: </a:t>
            </a:r>
            <a:r>
              <a:rPr b="0">
                <a:solidFill>
                  <a:srgbClr val="212529"/>
                </a:solidFill>
              </a:rPr>
              <a:t>Chains preprocessing with estimators to guarantee atomic, reproducible fit and predict workflows.</a:t>
            </a:r>
          </a:p>
          <a:p>
            <a:pPr>
              <a:spcAft>
                <a:spcPts val="400"/>
              </a:spcAft>
              <a:defRPr sz="1100" b="1">
                <a:solidFill>
                  <a:srgbClr val="10958C"/>
                </a:solidFill>
              </a:defRPr>
            </a:pPr>
            <a:r>
              <a:t>• Production Compatibility: </a:t>
            </a:r>
            <a:r>
              <a:rPr b="0">
                <a:solidFill>
                  <a:srgbClr val="212529"/>
                </a:solidFill>
              </a:rPr>
              <a:t>Guarantees zero inference failure on unseen categories or live batch data.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solidFill>
              <a:srgbClr val="F8F9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8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698480" cy="274320"/>
          </a:xfrm>
          <a:prstGeom prst="rect">
            <a:avLst/>
          </a:prstGeom>
          <a:noFill/>
        </p:spPr>
        <p:txBody>
          <a:bodyPr wrap="square">
            <a:spAutoFit/>
          </a:bodyPr>
          <a:lstStyle/>
          <a:p>
            <a:pPr>
              <a:defRPr sz="1000" b="1">
                <a:solidFill>
                  <a:srgbClr val="10958C"/>
                </a:solidFill>
              </a:defRPr>
            </a:pPr>
            <a:r>
              <a:t>SECTION 5: MODEL BUILDING</a:t>
            </a:r>
          </a:p>
        </p:txBody>
      </p:sp>
      <p:sp>
        <p:nvSpPr>
          <p:cNvPr id="5" name="TextBox 4"/>
          <p:cNvSpPr txBox="1"/>
          <p:nvPr/>
        </p:nvSpPr>
        <p:spPr>
          <a:xfrm>
            <a:off x="731520" y="347472"/>
            <a:ext cx="10698480" cy="594360"/>
          </a:xfrm>
          <a:prstGeom prst="rect">
            <a:avLst/>
          </a:prstGeom>
          <a:noFill/>
        </p:spPr>
        <p:txBody>
          <a:bodyPr wrap="square">
            <a:spAutoFit/>
          </a:bodyPr>
          <a:lstStyle/>
          <a:p>
            <a:pPr>
              <a:defRPr sz="2200" b="1">
                <a:solidFill>
                  <a:srgbClr val="FFFFFF"/>
                </a:solidFill>
              </a:defRPr>
            </a:pPr>
            <a:r>
              <a:t>5. Model Building: Algorithm Selection, Justifications &amp; Benchmark</a:t>
            </a:r>
          </a:p>
        </p:txBody>
      </p:sp>
      <p:sp>
        <p:nvSpPr>
          <p:cNvPr id="6" name="Rounded Rectangle 5"/>
          <p:cNvSpPr/>
          <p:nvPr/>
        </p:nvSpPr>
        <p:spPr>
          <a:xfrm>
            <a:off x="731520" y="1325880"/>
            <a:ext cx="5303520" cy="5029200"/>
          </a:xfrm>
          <a:prstGeom prst="roundRect">
            <a:avLst/>
          </a:prstGeom>
          <a:solidFill>
            <a:srgbClr val="FFFFFF"/>
          </a:solidFill>
          <a:ln w="12700">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463040"/>
            <a:ext cx="4937760" cy="4754880"/>
          </a:xfrm>
          <a:prstGeom prst="rect">
            <a:avLst/>
          </a:prstGeom>
          <a:noFill/>
        </p:spPr>
        <p:txBody>
          <a:bodyPr wrap="square">
            <a:spAutoFit/>
          </a:bodyPr>
          <a:lstStyle/>
          <a:p>
            <a:pPr>
              <a:spcAft>
                <a:spcPts val="800"/>
              </a:spcAft>
              <a:defRPr sz="1500" b="1">
                <a:solidFill>
                  <a:srgbClr val="182B49"/>
                </a:solidFill>
              </a:defRPr>
            </a:pPr>
            <a:r>
              <a:t>Algorithm Selection &amp; Theoretical Justification</a:t>
            </a:r>
          </a:p>
          <a:p>
            <a:pPr>
              <a:spcAft>
                <a:spcPts val="600"/>
              </a:spcAft>
              <a:defRPr sz="1100" b="1">
                <a:solidFill>
                  <a:srgbClr val="182B49"/>
                </a:solidFill>
              </a:defRPr>
            </a:pPr>
            <a:r>
              <a:t>• 1. Logistic Regression (Standardized): </a:t>
            </a:r>
            <a:r>
              <a:rPr b="0">
                <a:solidFill>
                  <a:srgbClr val="212529"/>
                </a:solidFill>
              </a:rPr>
              <a:t>Benchmark linear classifier. Models log-odds ln(p/(1-p)) = β0 + Σ βi xi. Provides direct coefficient interpretability.</a:t>
            </a:r>
          </a:p>
          <a:p>
            <a:pPr>
              <a:spcAft>
                <a:spcPts val="600"/>
              </a:spcAft>
              <a:defRPr sz="1100" b="1">
                <a:solidFill>
                  <a:srgbClr val="182B49"/>
                </a:solidFill>
              </a:defRPr>
            </a:pPr>
            <a:r>
              <a:t>• 2. Logistic Regression (Normalized): </a:t>
            </a:r>
            <a:r>
              <a:rPr b="0">
                <a:solidFill>
                  <a:srgbClr val="212529"/>
                </a:solidFill>
              </a:rPr>
              <a:t>Directly evaluates whether bounded [0, 1] scaling alters convergence or classification quality compared to Z-score standardization.</a:t>
            </a:r>
          </a:p>
          <a:p>
            <a:pPr>
              <a:spcAft>
                <a:spcPts val="600"/>
              </a:spcAft>
              <a:defRPr sz="1100" b="1">
                <a:solidFill>
                  <a:srgbClr val="182B49"/>
                </a:solidFill>
              </a:defRPr>
            </a:pPr>
            <a:r>
              <a:t>• 3. Random Forest Classifier: </a:t>
            </a:r>
            <a:r>
              <a:rPr b="0">
                <a:solidFill>
                  <a:srgbClr val="212529"/>
                </a:solidFill>
              </a:rPr>
              <a:t>Non-linear ensemble learning using Bootstrap Aggregation (bagging) with 150 trees. Captures multi-feature interactions without manual interaction engineering.</a:t>
            </a:r>
          </a:p>
          <a:p>
            <a:pPr>
              <a:spcAft>
                <a:spcPts val="600"/>
              </a:spcAft>
              <a:defRPr sz="1100" b="1">
                <a:solidFill>
                  <a:srgbClr val="182B49"/>
                </a:solidFill>
              </a:defRPr>
            </a:pPr>
            <a:r>
              <a:t>• 4. HistGradientBoosting (HistGB): </a:t>
            </a:r>
            <a:r>
              <a:rPr b="0">
                <a:solidFill>
                  <a:srgbClr val="212529"/>
                </a:solidFill>
              </a:rPr>
              <a:t>Modern histogram-based gradient boosting framework. Builds sequential decision trees minimizing logistic loss with superior tabular performance.</a:t>
            </a:r>
          </a:p>
        </p:txBody>
      </p:sp>
      <p:sp>
        <p:nvSpPr>
          <p:cNvPr id="8" name="Rounded Rectangle 7"/>
          <p:cNvSpPr/>
          <p:nvPr/>
        </p:nvSpPr>
        <p:spPr>
          <a:xfrm>
            <a:off x="6217920" y="1325880"/>
            <a:ext cx="5242255" cy="5029200"/>
          </a:xfrm>
          <a:prstGeom prst="roundRect">
            <a:avLst/>
          </a:prstGeom>
          <a:solidFill>
            <a:srgbClr val="FFFFFF"/>
          </a:solidFill>
          <a:ln w="12700">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463040"/>
            <a:ext cx="4876495" cy="4754880"/>
          </a:xfrm>
          <a:prstGeom prst="rect">
            <a:avLst/>
          </a:prstGeom>
          <a:noFill/>
        </p:spPr>
        <p:txBody>
          <a:bodyPr wrap="square">
            <a:spAutoFit/>
          </a:bodyPr>
          <a:lstStyle/>
          <a:p>
            <a:pPr>
              <a:spcAft>
                <a:spcPts val="800"/>
              </a:spcAft>
              <a:defRPr sz="1500" b="1">
                <a:solidFill>
                  <a:srgbClr val="182B49"/>
                </a:solidFill>
              </a:defRPr>
            </a:pPr>
            <a:r>
              <a:t>Model Performance Benchmark (Test Set N=10,000)</a:t>
            </a:r>
          </a:p>
        </p:txBody>
      </p:sp>
      <p:graphicFrame>
        <p:nvGraphicFramePr>
          <p:cNvPr id="10" name="Table 9"/>
          <p:cNvGraphicFramePr>
            <a:graphicFrameLocks noGrp="1"/>
          </p:cNvGraphicFramePr>
          <p:nvPr/>
        </p:nvGraphicFramePr>
        <p:xfrm>
          <a:off x="6400800" y="2011680"/>
          <a:ext cx="4876495" cy="2560320"/>
        </p:xfrm>
        <a:graphic>
          <a:graphicData uri="http://schemas.openxmlformats.org/drawingml/2006/table">
            <a:tbl>
              <a:tblPr firstRow="1" bandRow="1">
                <a:tableStyleId>{5C22544A-7EE6-4342-B048-85BDC9FD1C3A}</a:tableStyleId>
              </a:tblPr>
              <a:tblGrid>
                <a:gridCol w="2133295"/>
                <a:gridCol w="548640"/>
                <a:gridCol w="548640"/>
                <a:gridCol w="548640"/>
                <a:gridCol w="548640"/>
                <a:gridCol w="548640"/>
              </a:tblGrid>
              <a:tr h="512064">
                <a:tc>
                  <a:txBody>
                    <a:bodyPr/>
                    <a:lstStyle/>
                    <a:p>
                      <a:pPr algn="ctr">
                        <a:defRPr b="1" sz="1000">
                          <a:solidFill>
                            <a:srgbClr val="FFFFFF"/>
                          </a:solidFill>
                        </a:defRPr>
                      </a:pPr>
                      <a:r>
                        <a:t>Model</a:t>
                      </a:r>
                    </a:p>
                  </a:txBody>
                  <a:tcPr>
                    <a:solidFill>
                      <a:srgbClr val="182B49"/>
                    </a:solidFill>
                  </a:tcPr>
                </a:tc>
                <a:tc>
                  <a:txBody>
                    <a:bodyPr/>
                    <a:lstStyle/>
                    <a:p>
                      <a:pPr algn="ctr">
                        <a:defRPr b="1" sz="1000">
                          <a:solidFill>
                            <a:srgbClr val="FFFFFF"/>
                          </a:solidFill>
                        </a:defRPr>
                      </a:pPr>
                      <a:r>
                        <a:t>Acc</a:t>
                      </a:r>
                    </a:p>
                  </a:txBody>
                  <a:tcPr>
                    <a:solidFill>
                      <a:srgbClr val="182B49"/>
                    </a:solidFill>
                  </a:tcPr>
                </a:tc>
                <a:tc>
                  <a:txBody>
                    <a:bodyPr/>
                    <a:lstStyle/>
                    <a:p>
                      <a:pPr algn="ctr">
                        <a:defRPr b="1" sz="1000">
                          <a:solidFill>
                            <a:srgbClr val="FFFFFF"/>
                          </a:solidFill>
                        </a:defRPr>
                      </a:pPr>
                      <a:r>
                        <a:t>Prec</a:t>
                      </a:r>
                    </a:p>
                  </a:txBody>
                  <a:tcPr>
                    <a:solidFill>
                      <a:srgbClr val="182B49"/>
                    </a:solidFill>
                  </a:tcPr>
                </a:tc>
                <a:tc>
                  <a:txBody>
                    <a:bodyPr/>
                    <a:lstStyle/>
                    <a:p>
                      <a:pPr algn="ctr">
                        <a:defRPr b="1" sz="1000">
                          <a:solidFill>
                            <a:srgbClr val="FFFFFF"/>
                          </a:solidFill>
                        </a:defRPr>
                      </a:pPr>
                      <a:r>
                        <a:t>Rec</a:t>
                      </a:r>
                    </a:p>
                  </a:txBody>
                  <a:tcPr>
                    <a:solidFill>
                      <a:srgbClr val="182B49"/>
                    </a:solidFill>
                  </a:tcPr>
                </a:tc>
                <a:tc>
                  <a:txBody>
                    <a:bodyPr/>
                    <a:lstStyle/>
                    <a:p>
                      <a:pPr algn="ctr">
                        <a:defRPr b="1" sz="1000">
                          <a:solidFill>
                            <a:srgbClr val="FFFFFF"/>
                          </a:solidFill>
                        </a:defRPr>
                      </a:pPr>
                      <a:r>
                        <a:t>F1</a:t>
                      </a:r>
                    </a:p>
                  </a:txBody>
                  <a:tcPr>
                    <a:solidFill>
                      <a:srgbClr val="182B49"/>
                    </a:solidFill>
                  </a:tcPr>
                </a:tc>
                <a:tc>
                  <a:txBody>
                    <a:bodyPr/>
                    <a:lstStyle/>
                    <a:p>
                      <a:pPr algn="ctr">
                        <a:defRPr b="1" sz="1000">
                          <a:solidFill>
                            <a:srgbClr val="FFFFFF"/>
                          </a:solidFill>
                        </a:defRPr>
                      </a:pPr>
                      <a:r>
                        <a:t>AUC</a:t>
                      </a:r>
                    </a:p>
                  </a:txBody>
                  <a:tcPr>
                    <a:solidFill>
                      <a:srgbClr val="182B49"/>
                    </a:solidFill>
                  </a:tcPr>
                </a:tc>
              </a:tr>
              <a:tr h="512064">
                <a:tc>
                  <a:txBody>
                    <a:bodyPr/>
                    <a:lstStyle/>
                    <a:p>
                      <a:pPr>
                        <a:defRPr sz="950">
                          <a:solidFill>
                            <a:srgbClr val="212529"/>
                          </a:solidFill>
                        </a:defRPr>
                      </a:pPr>
                      <a:r>
                        <a:t>Gradient Boosting (HistGB)</a:t>
                      </a:r>
                    </a:p>
                  </a:txBody>
                  <a:tcPr>
                    <a:solidFill>
                      <a:srgbClr val="F5F8FC"/>
                    </a:solidFill>
                  </a:tcPr>
                </a:tc>
                <a:tc>
                  <a:txBody>
                    <a:bodyPr/>
                    <a:lstStyle/>
                    <a:p>
                      <a:pPr algn="ctr">
                        <a:defRPr sz="950">
                          <a:solidFill>
                            <a:srgbClr val="212529"/>
                          </a:solidFill>
                        </a:defRPr>
                      </a:pPr>
                      <a:r>
                        <a:t>0.5072</a:t>
                      </a:r>
                    </a:p>
                  </a:txBody>
                  <a:tcPr>
                    <a:solidFill>
                      <a:srgbClr val="F5F8FC"/>
                    </a:solidFill>
                  </a:tcPr>
                </a:tc>
                <a:tc>
                  <a:txBody>
                    <a:bodyPr/>
                    <a:lstStyle/>
                    <a:p>
                      <a:pPr algn="ctr">
                        <a:defRPr sz="950">
                          <a:solidFill>
                            <a:srgbClr val="212529"/>
                          </a:solidFill>
                        </a:defRPr>
                      </a:pPr>
                      <a:r>
                        <a:t>0.5082</a:t>
                      </a:r>
                    </a:p>
                  </a:txBody>
                  <a:tcPr>
                    <a:solidFill>
                      <a:srgbClr val="F5F8FC"/>
                    </a:solidFill>
                  </a:tcPr>
                </a:tc>
                <a:tc>
                  <a:txBody>
                    <a:bodyPr/>
                    <a:lstStyle/>
                    <a:p>
                      <a:pPr algn="ctr">
                        <a:defRPr sz="950">
                          <a:solidFill>
                            <a:srgbClr val="212529"/>
                          </a:solidFill>
                        </a:defRPr>
                      </a:pPr>
                      <a:r>
                        <a:t>0.4800</a:t>
                      </a:r>
                    </a:p>
                  </a:txBody>
                  <a:tcPr>
                    <a:solidFill>
                      <a:srgbClr val="F5F8FC"/>
                    </a:solidFill>
                  </a:tcPr>
                </a:tc>
                <a:tc>
                  <a:txBody>
                    <a:bodyPr/>
                    <a:lstStyle/>
                    <a:p>
                      <a:pPr algn="ctr">
                        <a:defRPr sz="950">
                          <a:solidFill>
                            <a:srgbClr val="212529"/>
                          </a:solidFill>
                        </a:defRPr>
                      </a:pPr>
                      <a:r>
                        <a:t>0.4937</a:t>
                      </a:r>
                    </a:p>
                  </a:txBody>
                  <a:tcPr>
                    <a:solidFill>
                      <a:srgbClr val="F5F8FC"/>
                    </a:solidFill>
                  </a:tcPr>
                </a:tc>
                <a:tc>
                  <a:txBody>
                    <a:bodyPr/>
                    <a:lstStyle/>
                    <a:p>
                      <a:pPr algn="ctr">
                        <a:defRPr sz="950">
                          <a:solidFill>
                            <a:srgbClr val="212529"/>
                          </a:solidFill>
                        </a:defRPr>
                      </a:pPr>
                      <a:r>
                        <a:t>0.5114</a:t>
                      </a:r>
                    </a:p>
                  </a:txBody>
                  <a:tcPr>
                    <a:solidFill>
                      <a:srgbClr val="F5F8FC"/>
                    </a:solidFill>
                  </a:tcPr>
                </a:tc>
              </a:tr>
              <a:tr h="512064">
                <a:tc>
                  <a:txBody>
                    <a:bodyPr/>
                    <a:lstStyle/>
                    <a:p>
                      <a:pPr>
                        <a:defRPr sz="950">
                          <a:solidFill>
                            <a:srgbClr val="212529"/>
                          </a:solidFill>
                        </a:defRPr>
                      </a:pPr>
                      <a:r>
                        <a:t>Logistic Reg (Standardized)</a:t>
                      </a:r>
                    </a:p>
                  </a:txBody>
                  <a:tcPr>
                    <a:solidFill>
                      <a:srgbClr val="FFFFFF"/>
                    </a:solidFill>
                  </a:tcPr>
                </a:tc>
                <a:tc>
                  <a:txBody>
                    <a:bodyPr/>
                    <a:lstStyle/>
                    <a:p>
                      <a:pPr algn="ctr">
                        <a:defRPr sz="950">
                          <a:solidFill>
                            <a:srgbClr val="212529"/>
                          </a:solidFill>
                        </a:defRPr>
                      </a:pPr>
                      <a:r>
                        <a:t>0.5025</a:t>
                      </a:r>
                    </a:p>
                  </a:txBody>
                  <a:tcPr>
                    <a:solidFill>
                      <a:srgbClr val="FFFFFF"/>
                    </a:solidFill>
                  </a:tcPr>
                </a:tc>
                <a:tc>
                  <a:txBody>
                    <a:bodyPr/>
                    <a:lstStyle/>
                    <a:p>
                      <a:pPr algn="ctr">
                        <a:defRPr sz="950">
                          <a:solidFill>
                            <a:srgbClr val="212529"/>
                          </a:solidFill>
                        </a:defRPr>
                      </a:pPr>
                      <a:r>
                        <a:t>0.5030</a:t>
                      </a:r>
                    </a:p>
                  </a:txBody>
                  <a:tcPr>
                    <a:solidFill>
                      <a:srgbClr val="FFFFFF"/>
                    </a:solidFill>
                  </a:tcPr>
                </a:tc>
                <a:tc>
                  <a:txBody>
                    <a:bodyPr/>
                    <a:lstStyle/>
                    <a:p>
                      <a:pPr algn="ctr">
                        <a:defRPr sz="950">
                          <a:solidFill>
                            <a:srgbClr val="212529"/>
                          </a:solidFill>
                        </a:defRPr>
                      </a:pPr>
                      <a:r>
                        <a:t>0.5198</a:t>
                      </a:r>
                    </a:p>
                  </a:txBody>
                  <a:tcPr>
                    <a:solidFill>
                      <a:srgbClr val="FFFFFF"/>
                    </a:solidFill>
                  </a:tcPr>
                </a:tc>
                <a:tc>
                  <a:txBody>
                    <a:bodyPr/>
                    <a:lstStyle/>
                    <a:p>
                      <a:pPr algn="ctr">
                        <a:defRPr sz="950">
                          <a:solidFill>
                            <a:srgbClr val="212529"/>
                          </a:solidFill>
                        </a:defRPr>
                      </a:pPr>
                      <a:r>
                        <a:t>0.5112</a:t>
                      </a:r>
                    </a:p>
                  </a:txBody>
                  <a:tcPr>
                    <a:solidFill>
                      <a:srgbClr val="FFFFFF"/>
                    </a:solidFill>
                  </a:tcPr>
                </a:tc>
                <a:tc>
                  <a:txBody>
                    <a:bodyPr/>
                    <a:lstStyle/>
                    <a:p>
                      <a:pPr algn="ctr">
                        <a:defRPr sz="950">
                          <a:solidFill>
                            <a:srgbClr val="212529"/>
                          </a:solidFill>
                        </a:defRPr>
                      </a:pPr>
                      <a:r>
                        <a:t>0.5016</a:t>
                      </a:r>
                    </a:p>
                  </a:txBody>
                  <a:tcPr>
                    <a:solidFill>
                      <a:srgbClr val="FFFFFF"/>
                    </a:solidFill>
                  </a:tcPr>
                </a:tc>
              </a:tr>
              <a:tr h="512064">
                <a:tc>
                  <a:txBody>
                    <a:bodyPr/>
                    <a:lstStyle/>
                    <a:p>
                      <a:pPr>
                        <a:defRPr sz="950">
                          <a:solidFill>
                            <a:srgbClr val="212529"/>
                          </a:solidFill>
                        </a:defRPr>
                      </a:pPr>
                      <a:r>
                        <a:t>Logistic Reg (Normalized)</a:t>
                      </a:r>
                    </a:p>
                  </a:txBody>
                  <a:tcPr>
                    <a:solidFill>
                      <a:srgbClr val="F5F8FC"/>
                    </a:solidFill>
                  </a:tcPr>
                </a:tc>
                <a:tc>
                  <a:txBody>
                    <a:bodyPr/>
                    <a:lstStyle/>
                    <a:p>
                      <a:pPr algn="ctr">
                        <a:defRPr sz="950">
                          <a:solidFill>
                            <a:srgbClr val="212529"/>
                          </a:solidFill>
                        </a:defRPr>
                      </a:pPr>
                      <a:r>
                        <a:t>0.5030</a:t>
                      </a:r>
                    </a:p>
                  </a:txBody>
                  <a:tcPr>
                    <a:solidFill>
                      <a:srgbClr val="F5F8FC"/>
                    </a:solidFill>
                  </a:tcPr>
                </a:tc>
                <a:tc>
                  <a:txBody>
                    <a:bodyPr/>
                    <a:lstStyle/>
                    <a:p>
                      <a:pPr algn="ctr">
                        <a:defRPr sz="950">
                          <a:solidFill>
                            <a:srgbClr val="212529"/>
                          </a:solidFill>
                        </a:defRPr>
                      </a:pPr>
                      <a:r>
                        <a:t>0.5035</a:t>
                      </a:r>
                    </a:p>
                  </a:txBody>
                  <a:tcPr>
                    <a:solidFill>
                      <a:srgbClr val="F5F8FC"/>
                    </a:solidFill>
                  </a:tcPr>
                </a:tc>
                <a:tc>
                  <a:txBody>
                    <a:bodyPr/>
                    <a:lstStyle/>
                    <a:p>
                      <a:pPr algn="ctr">
                        <a:defRPr sz="950">
                          <a:solidFill>
                            <a:srgbClr val="212529"/>
                          </a:solidFill>
                        </a:defRPr>
                      </a:pPr>
                      <a:r>
                        <a:t>0.5228</a:t>
                      </a:r>
                    </a:p>
                  </a:txBody>
                  <a:tcPr>
                    <a:solidFill>
                      <a:srgbClr val="F5F8FC"/>
                    </a:solidFill>
                  </a:tcPr>
                </a:tc>
                <a:tc>
                  <a:txBody>
                    <a:bodyPr/>
                    <a:lstStyle/>
                    <a:p>
                      <a:pPr algn="ctr">
                        <a:defRPr sz="950">
                          <a:solidFill>
                            <a:srgbClr val="212529"/>
                          </a:solidFill>
                        </a:defRPr>
                      </a:pPr>
                      <a:r>
                        <a:t>0.5129</a:t>
                      </a:r>
                    </a:p>
                  </a:txBody>
                  <a:tcPr>
                    <a:solidFill>
                      <a:srgbClr val="F5F8FC"/>
                    </a:solidFill>
                  </a:tcPr>
                </a:tc>
                <a:tc>
                  <a:txBody>
                    <a:bodyPr/>
                    <a:lstStyle/>
                    <a:p>
                      <a:pPr algn="ctr">
                        <a:defRPr sz="950">
                          <a:solidFill>
                            <a:srgbClr val="212529"/>
                          </a:solidFill>
                        </a:defRPr>
                      </a:pPr>
                      <a:r>
                        <a:t>0.5008</a:t>
                      </a:r>
                    </a:p>
                  </a:txBody>
                  <a:tcPr>
                    <a:solidFill>
                      <a:srgbClr val="F5F8FC"/>
                    </a:solidFill>
                  </a:tcPr>
                </a:tc>
              </a:tr>
              <a:tr h="512064">
                <a:tc>
                  <a:txBody>
                    <a:bodyPr/>
                    <a:lstStyle/>
                    <a:p>
                      <a:pPr>
                        <a:defRPr sz="950">
                          <a:solidFill>
                            <a:srgbClr val="212529"/>
                          </a:solidFill>
                        </a:defRPr>
                      </a:pPr>
                      <a:r>
                        <a:t>Random Forest Classifier</a:t>
                      </a:r>
                    </a:p>
                  </a:txBody>
                  <a:tcPr>
                    <a:solidFill>
                      <a:srgbClr val="FFFFFF"/>
                    </a:solidFill>
                  </a:tcPr>
                </a:tc>
                <a:tc>
                  <a:txBody>
                    <a:bodyPr/>
                    <a:lstStyle/>
                    <a:p>
                      <a:pPr algn="ctr">
                        <a:defRPr sz="950">
                          <a:solidFill>
                            <a:srgbClr val="212529"/>
                          </a:solidFill>
                        </a:defRPr>
                      </a:pPr>
                      <a:r>
                        <a:t>0.4970</a:t>
                      </a:r>
                    </a:p>
                  </a:txBody>
                  <a:tcPr>
                    <a:solidFill>
                      <a:srgbClr val="FFFFFF"/>
                    </a:solidFill>
                  </a:tcPr>
                </a:tc>
                <a:tc>
                  <a:txBody>
                    <a:bodyPr/>
                    <a:lstStyle/>
                    <a:p>
                      <a:pPr algn="ctr">
                        <a:defRPr sz="950">
                          <a:solidFill>
                            <a:srgbClr val="212529"/>
                          </a:solidFill>
                        </a:defRPr>
                      </a:pPr>
                      <a:r>
                        <a:t>0.4977</a:t>
                      </a:r>
                    </a:p>
                  </a:txBody>
                  <a:tcPr>
                    <a:solidFill>
                      <a:srgbClr val="FFFFFF"/>
                    </a:solidFill>
                  </a:tcPr>
                </a:tc>
                <a:tc>
                  <a:txBody>
                    <a:bodyPr/>
                    <a:lstStyle/>
                    <a:p>
                      <a:pPr algn="ctr">
                        <a:defRPr sz="950">
                          <a:solidFill>
                            <a:srgbClr val="212529"/>
                          </a:solidFill>
                        </a:defRPr>
                      </a:pPr>
                      <a:r>
                        <a:t>0.5248</a:t>
                      </a:r>
                    </a:p>
                  </a:txBody>
                  <a:tcPr>
                    <a:solidFill>
                      <a:srgbClr val="FFFFFF"/>
                    </a:solidFill>
                  </a:tcPr>
                </a:tc>
                <a:tc>
                  <a:txBody>
                    <a:bodyPr/>
                    <a:lstStyle/>
                    <a:p>
                      <a:pPr algn="ctr">
                        <a:defRPr sz="950">
                          <a:solidFill>
                            <a:srgbClr val="212529"/>
                          </a:solidFill>
                        </a:defRPr>
                      </a:pPr>
                      <a:r>
                        <a:t>0.5109</a:t>
                      </a:r>
                    </a:p>
                  </a:txBody>
                  <a:tcPr>
                    <a:solidFill>
                      <a:srgbClr val="FFFFFF"/>
                    </a:solidFill>
                  </a:tcPr>
                </a:tc>
                <a:tc>
                  <a:txBody>
                    <a:bodyPr/>
                    <a:lstStyle/>
                    <a:p>
                      <a:pPr algn="ctr">
                        <a:defRPr sz="950">
                          <a:solidFill>
                            <a:srgbClr val="212529"/>
                          </a:solidFill>
                        </a:defRPr>
                      </a:pPr>
                      <a:r>
                        <a:t>0.4995</a:t>
                      </a:r>
                    </a:p>
                  </a:txBody>
                  <a:tcPr>
                    <a:solidFill>
                      <a:srgbClr val="FFFFFF"/>
                    </a:solidFill>
                  </a:tcPr>
                </a:tc>
              </a:tr>
            </a:tbl>
          </a:graphicData>
        </a:graphic>
      </p:graphicFrame>
      <p:sp>
        <p:nvSpPr>
          <p:cNvPr id="11" name="TextBox 10"/>
          <p:cNvSpPr txBox="1"/>
          <p:nvPr/>
        </p:nvSpPr>
        <p:spPr>
          <a:xfrm>
            <a:off x="6400800" y="4754880"/>
            <a:ext cx="4876495" cy="1371600"/>
          </a:xfrm>
          <a:prstGeom prst="rect">
            <a:avLst/>
          </a:prstGeom>
          <a:noFill/>
        </p:spPr>
        <p:txBody>
          <a:bodyPr wrap="square">
            <a:spAutoFit/>
          </a:bodyPr>
          <a:lstStyle/>
          <a:p>
            <a:pPr>
              <a:defRPr sz="1050">
                <a:solidFill>
                  <a:srgbClr val="212529"/>
                </a:solidFill>
              </a:defRPr>
            </a:pPr>
            <a:r>
              <a:t>• Scaling Takeaway: Standardized vs. Normalized Logistic Regression yields nearly identical performance (0.5025 vs. 0.5030 Accuracy).</a:t>
            </a:r>
            <a:br/>
            <a:r>
              <a:t>• Top Architecture: HistGradientBoosting achieved the highest ROC-AUC (0.5114) and Precision (0.5082).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solidFill>
              <a:srgbClr val="F8F9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8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698480" cy="274320"/>
          </a:xfrm>
          <a:prstGeom prst="rect">
            <a:avLst/>
          </a:prstGeom>
          <a:noFill/>
        </p:spPr>
        <p:txBody>
          <a:bodyPr wrap="square">
            <a:spAutoFit/>
          </a:bodyPr>
          <a:lstStyle/>
          <a:p>
            <a:pPr>
              <a:defRPr sz="1000" b="1">
                <a:solidFill>
                  <a:srgbClr val="10958C"/>
                </a:solidFill>
              </a:defRPr>
            </a:pPr>
            <a:r>
              <a:t>SECTION 6: MODEL ANALYSIS</a:t>
            </a:r>
          </a:p>
        </p:txBody>
      </p:sp>
      <p:sp>
        <p:nvSpPr>
          <p:cNvPr id="5" name="TextBox 4"/>
          <p:cNvSpPr txBox="1"/>
          <p:nvPr/>
        </p:nvSpPr>
        <p:spPr>
          <a:xfrm>
            <a:off x="731520" y="347472"/>
            <a:ext cx="10698480" cy="594360"/>
          </a:xfrm>
          <a:prstGeom prst="rect">
            <a:avLst/>
          </a:prstGeom>
          <a:noFill/>
        </p:spPr>
        <p:txBody>
          <a:bodyPr wrap="square">
            <a:spAutoFit/>
          </a:bodyPr>
          <a:lstStyle/>
          <a:p>
            <a:pPr>
              <a:defRPr sz="2200" b="1">
                <a:solidFill>
                  <a:srgbClr val="FFFFFF"/>
                </a:solidFill>
              </a:defRPr>
            </a:pPr>
            <a:r>
              <a:t>6. Model Analysis: Evaluation Metrics &amp; Confusion Matrices</a:t>
            </a:r>
          </a:p>
        </p:txBody>
      </p:sp>
      <p:pic>
        <p:nvPicPr>
          <p:cNvPr id="6" name="Picture 5" descr="05_model_comparison_metrics.png"/>
          <p:cNvPicPr>
            <a:picLocks noChangeAspect="1"/>
          </p:cNvPicPr>
          <p:nvPr/>
        </p:nvPicPr>
        <p:blipFill>
          <a:blip r:embed="rId2"/>
          <a:stretch>
            <a:fillRect/>
          </a:stretch>
        </p:blipFill>
        <p:spPr>
          <a:xfrm>
            <a:off x="731520" y="1325880"/>
            <a:ext cx="5212080" cy="2606040"/>
          </a:xfrm>
          <a:prstGeom prst="rect">
            <a:avLst/>
          </a:prstGeom>
        </p:spPr>
      </p:pic>
      <p:pic>
        <p:nvPicPr>
          <p:cNvPr id="7" name="Picture 6" descr="06_confusion_matrices.png"/>
          <p:cNvPicPr>
            <a:picLocks noChangeAspect="1"/>
          </p:cNvPicPr>
          <p:nvPr/>
        </p:nvPicPr>
        <p:blipFill>
          <a:blip r:embed="rId3"/>
          <a:stretch>
            <a:fillRect/>
          </a:stretch>
        </p:blipFill>
        <p:spPr>
          <a:xfrm>
            <a:off x="6217920" y="1325880"/>
            <a:ext cx="5242255" cy="4368546"/>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solidFill>
              <a:srgbClr val="F8F9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8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698480" cy="274320"/>
          </a:xfrm>
          <a:prstGeom prst="rect">
            <a:avLst/>
          </a:prstGeom>
          <a:noFill/>
        </p:spPr>
        <p:txBody>
          <a:bodyPr wrap="square">
            <a:spAutoFit/>
          </a:bodyPr>
          <a:lstStyle/>
          <a:p>
            <a:pPr>
              <a:defRPr sz="1000" b="1">
                <a:solidFill>
                  <a:srgbClr val="10958C"/>
                </a:solidFill>
              </a:defRPr>
            </a:pPr>
            <a:r>
              <a:t>SECTION 6: MODEL ANALYSIS</a:t>
            </a:r>
          </a:p>
        </p:txBody>
      </p:sp>
      <p:sp>
        <p:nvSpPr>
          <p:cNvPr id="5" name="TextBox 4"/>
          <p:cNvSpPr txBox="1"/>
          <p:nvPr/>
        </p:nvSpPr>
        <p:spPr>
          <a:xfrm>
            <a:off x="731520" y="347472"/>
            <a:ext cx="10698480" cy="594360"/>
          </a:xfrm>
          <a:prstGeom prst="rect">
            <a:avLst/>
          </a:prstGeom>
          <a:noFill/>
        </p:spPr>
        <p:txBody>
          <a:bodyPr wrap="square">
            <a:spAutoFit/>
          </a:bodyPr>
          <a:lstStyle/>
          <a:p>
            <a:pPr>
              <a:defRPr sz="2200" b="1">
                <a:solidFill>
                  <a:srgbClr val="FFFFFF"/>
                </a:solidFill>
              </a:defRPr>
            </a:pPr>
            <a:r>
              <a:t>6. Model Analysis: ROC Curves &amp; Feature Importance Ranking</a:t>
            </a:r>
          </a:p>
        </p:txBody>
      </p:sp>
      <p:pic>
        <p:nvPicPr>
          <p:cNvPr id="6" name="Picture 5" descr="07_roc_curves.png"/>
          <p:cNvPicPr>
            <a:picLocks noChangeAspect="1"/>
          </p:cNvPicPr>
          <p:nvPr/>
        </p:nvPicPr>
        <p:blipFill>
          <a:blip r:embed="rId2"/>
          <a:stretch>
            <a:fillRect/>
          </a:stretch>
        </p:blipFill>
        <p:spPr>
          <a:xfrm>
            <a:off x="731520" y="1325880"/>
            <a:ext cx="5029200" cy="4400550"/>
          </a:xfrm>
          <a:prstGeom prst="rect">
            <a:avLst/>
          </a:prstGeom>
        </p:spPr>
      </p:pic>
      <p:pic>
        <p:nvPicPr>
          <p:cNvPr id="7" name="Picture 6" descr="08_feature_importance.png"/>
          <p:cNvPicPr>
            <a:picLocks noChangeAspect="1"/>
          </p:cNvPicPr>
          <p:nvPr/>
        </p:nvPicPr>
        <p:blipFill>
          <a:blip r:embed="rId3"/>
          <a:stretch>
            <a:fillRect/>
          </a:stretch>
        </p:blipFill>
        <p:spPr>
          <a:xfrm>
            <a:off x="6035040" y="1325880"/>
            <a:ext cx="5425135" cy="3797594"/>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solidFill>
              <a:srgbClr val="F8F9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8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698480" cy="274320"/>
          </a:xfrm>
          <a:prstGeom prst="rect">
            <a:avLst/>
          </a:prstGeom>
          <a:noFill/>
        </p:spPr>
        <p:txBody>
          <a:bodyPr wrap="square">
            <a:spAutoFit/>
          </a:bodyPr>
          <a:lstStyle/>
          <a:p>
            <a:pPr>
              <a:defRPr sz="1000" b="1">
                <a:solidFill>
                  <a:srgbClr val="10958C"/>
                </a:solidFill>
              </a:defRPr>
            </a:pPr>
            <a:r>
              <a:t>SYNTHESIS &amp; FINDINGS</a:t>
            </a:r>
          </a:p>
        </p:txBody>
      </p:sp>
      <p:sp>
        <p:nvSpPr>
          <p:cNvPr id="5" name="TextBox 4"/>
          <p:cNvSpPr txBox="1"/>
          <p:nvPr/>
        </p:nvSpPr>
        <p:spPr>
          <a:xfrm>
            <a:off x="731520" y="347472"/>
            <a:ext cx="10698480" cy="594360"/>
          </a:xfrm>
          <a:prstGeom prst="rect">
            <a:avLst/>
          </a:prstGeom>
          <a:noFill/>
        </p:spPr>
        <p:txBody>
          <a:bodyPr wrap="square">
            <a:spAutoFit/>
          </a:bodyPr>
          <a:lstStyle/>
          <a:p>
            <a:pPr>
              <a:defRPr sz="2200" b="1">
                <a:solidFill>
                  <a:srgbClr val="FFFFFF"/>
                </a:solidFill>
              </a:defRPr>
            </a:pPr>
            <a:r>
              <a:t>Core Findings, Academic Discussion &amp; Production Recommendations</a:t>
            </a:r>
          </a:p>
        </p:txBody>
      </p:sp>
      <p:sp>
        <p:nvSpPr>
          <p:cNvPr id="6" name="Rounded Rectangle 5"/>
          <p:cNvSpPr/>
          <p:nvPr/>
        </p:nvSpPr>
        <p:spPr>
          <a:xfrm>
            <a:off x="731520" y="1371600"/>
            <a:ext cx="3429000" cy="4937760"/>
          </a:xfrm>
          <a:prstGeom prst="roundRect">
            <a:avLst/>
          </a:prstGeom>
          <a:solidFill>
            <a:srgbClr val="FFFFFF"/>
          </a:solidFill>
          <a:ln w="12700">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554480"/>
            <a:ext cx="3063240" cy="4572000"/>
          </a:xfrm>
          <a:prstGeom prst="rect">
            <a:avLst/>
          </a:prstGeom>
          <a:noFill/>
        </p:spPr>
        <p:txBody>
          <a:bodyPr wrap="square">
            <a:spAutoFit/>
          </a:bodyPr>
          <a:lstStyle/>
          <a:p>
            <a:pPr>
              <a:spcAft>
                <a:spcPts val="1200"/>
              </a:spcAft>
              <a:defRPr sz="1500" b="1">
                <a:solidFill>
                  <a:srgbClr val="182B49"/>
                </a:solidFill>
              </a:defRPr>
            </a:pPr>
            <a:r>
              <a:t>1. Data-Driven Root Cause</a:t>
            </a:r>
          </a:p>
          <a:p>
            <a:pPr>
              <a:spcAft>
                <a:spcPts val="400"/>
              </a:spcAft>
              <a:defRPr sz="1100" b="1">
                <a:solidFill>
                  <a:srgbClr val="0E74BC"/>
                </a:solidFill>
              </a:defRPr>
            </a:pPr>
            <a:r>
              <a:t>• Correlation Analysis: </a:t>
            </a:r>
            <a:r>
              <a:rPr b="0">
                <a:solidFill>
                  <a:srgbClr val="212529"/>
                </a:solidFill>
              </a:rPr>
              <a:t>Max correlation between any predictor and 'Dropped Connection' is |r| &lt; 0.010.</a:t>
            </a:r>
          </a:p>
          <a:p>
            <a:pPr>
              <a:spcAft>
                <a:spcPts val="400"/>
              </a:spcAft>
              <a:defRPr sz="1100" b="1">
                <a:solidFill>
                  <a:srgbClr val="0E74BC"/>
                </a:solidFill>
              </a:defRPr>
            </a:pPr>
            <a:r>
              <a:t>• Information Entropy: </a:t>
            </a:r>
            <a:r>
              <a:rPr b="0">
                <a:solidFill>
                  <a:srgbClr val="212529"/>
                </a:solidFill>
              </a:rPr>
              <a:t>Features were generated as statistically independent uniform variables.</a:t>
            </a:r>
          </a:p>
          <a:p>
            <a:pPr>
              <a:spcAft>
                <a:spcPts val="400"/>
              </a:spcAft>
              <a:defRPr sz="1100" b="1">
                <a:solidFill>
                  <a:srgbClr val="0E74BC"/>
                </a:solidFill>
              </a:defRPr>
            </a:pPr>
            <a:r>
              <a:t>• Academic Integrity: </a:t>
            </a:r>
            <a:r>
              <a:rPr b="0">
                <a:solidFill>
                  <a:srgbClr val="212529"/>
                </a:solidFill>
              </a:rPr>
              <a:t>The models accurately reflect the data's true entropy without overfitting or hallucinating false correlations.</a:t>
            </a:r>
          </a:p>
        </p:txBody>
      </p:sp>
      <p:sp>
        <p:nvSpPr>
          <p:cNvPr id="8" name="Rounded Rectangle 7"/>
          <p:cNvSpPr/>
          <p:nvPr/>
        </p:nvSpPr>
        <p:spPr>
          <a:xfrm>
            <a:off x="4343400" y="1371600"/>
            <a:ext cx="3429000" cy="4937760"/>
          </a:xfrm>
          <a:prstGeom prst="roundRect">
            <a:avLst/>
          </a:prstGeom>
          <a:solidFill>
            <a:srgbClr val="FFFFFF"/>
          </a:solidFill>
          <a:ln w="12700">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26280" y="1554480"/>
            <a:ext cx="3063240" cy="4572000"/>
          </a:xfrm>
          <a:prstGeom prst="rect">
            <a:avLst/>
          </a:prstGeom>
          <a:noFill/>
        </p:spPr>
        <p:txBody>
          <a:bodyPr wrap="square">
            <a:spAutoFit/>
          </a:bodyPr>
          <a:lstStyle/>
          <a:p>
            <a:pPr>
              <a:spcAft>
                <a:spcPts val="1200"/>
              </a:spcAft>
              <a:defRPr sz="1500" b="1">
                <a:solidFill>
                  <a:srgbClr val="182B49"/>
                </a:solidFill>
              </a:defRPr>
            </a:pPr>
            <a:r>
              <a:t>2. Real 5G RAN Deployment</a:t>
            </a:r>
          </a:p>
          <a:p>
            <a:pPr>
              <a:spcAft>
                <a:spcPts val="400"/>
              </a:spcAft>
              <a:defRPr sz="1100" b="1">
                <a:solidFill>
                  <a:srgbClr val="0E74BC"/>
                </a:solidFill>
              </a:defRPr>
            </a:pPr>
            <a:r>
              <a:t>• Physical Drop Causes: </a:t>
            </a:r>
            <a:r>
              <a:rPr b="0">
                <a:solidFill>
                  <a:srgbClr val="212529"/>
                </a:solidFill>
              </a:rPr>
              <a:t>In live cellular networks, drops occur due to severe RF degradation (RSRP &lt; -105 dBm), jitter spikes (&gt;30ms), and handover failure.</a:t>
            </a:r>
          </a:p>
          <a:p>
            <a:pPr>
              <a:spcAft>
                <a:spcPts val="400"/>
              </a:spcAft>
              <a:defRPr sz="1100" b="1">
                <a:solidFill>
                  <a:srgbClr val="0E74BC"/>
                </a:solidFill>
              </a:defRPr>
            </a:pPr>
            <a:r>
              <a:t>• Non-Linear Thresholds: </a:t>
            </a:r>
            <a:r>
              <a:rPr b="0">
                <a:solidFill>
                  <a:srgbClr val="212529"/>
                </a:solidFill>
              </a:rPr>
              <a:t>Compound failures (e.g. high thermal load + poor signal) require non-linear decision boundaries.</a:t>
            </a:r>
          </a:p>
          <a:p>
            <a:pPr>
              <a:spcAft>
                <a:spcPts val="400"/>
              </a:spcAft>
              <a:defRPr sz="1100" b="1">
                <a:solidFill>
                  <a:srgbClr val="0E74BC"/>
                </a:solidFill>
              </a:defRPr>
            </a:pPr>
            <a:r>
              <a:t>• Threshold Traps: </a:t>
            </a:r>
            <a:r>
              <a:rPr b="0">
                <a:solidFill>
                  <a:srgbClr val="212529"/>
                </a:solidFill>
              </a:rPr>
              <a:t>Linear models fail to capture multi-variable trigger thresholds.</a:t>
            </a:r>
          </a:p>
        </p:txBody>
      </p:sp>
      <p:sp>
        <p:nvSpPr>
          <p:cNvPr id="10" name="Rounded Rectangle 9"/>
          <p:cNvSpPr/>
          <p:nvPr/>
        </p:nvSpPr>
        <p:spPr>
          <a:xfrm>
            <a:off x="7955280" y="1371600"/>
            <a:ext cx="3429000" cy="4937760"/>
          </a:xfrm>
          <a:prstGeom prst="roundRect">
            <a:avLst/>
          </a:prstGeom>
          <a:solidFill>
            <a:srgbClr val="FFFFFF"/>
          </a:solidFill>
          <a:ln w="12700">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38160" y="1554480"/>
            <a:ext cx="3063240" cy="4572000"/>
          </a:xfrm>
          <a:prstGeom prst="rect">
            <a:avLst/>
          </a:prstGeom>
          <a:noFill/>
        </p:spPr>
        <p:txBody>
          <a:bodyPr wrap="square">
            <a:spAutoFit/>
          </a:bodyPr>
          <a:lstStyle/>
          <a:p>
            <a:pPr>
              <a:spcAft>
                <a:spcPts val="1200"/>
              </a:spcAft>
              <a:defRPr sz="1500" b="1">
                <a:solidFill>
                  <a:srgbClr val="182B49"/>
                </a:solidFill>
              </a:defRPr>
            </a:pPr>
            <a:r>
              <a:t>3. Final Architecture Choice</a:t>
            </a:r>
          </a:p>
          <a:p>
            <a:pPr>
              <a:spcAft>
                <a:spcPts val="400"/>
              </a:spcAft>
              <a:defRPr sz="1100" b="1">
                <a:solidFill>
                  <a:srgbClr val="0E74BC"/>
                </a:solidFill>
              </a:defRPr>
            </a:pPr>
            <a:r>
              <a:t>• Recommended Models: </a:t>
            </a:r>
            <a:r>
              <a:rPr b="0">
                <a:solidFill>
                  <a:srgbClr val="212529"/>
                </a:solidFill>
              </a:rPr>
              <a:t>Histogram-based Gradient Boosting (HistGB) and Random Forest Classifier.</a:t>
            </a:r>
          </a:p>
          <a:p>
            <a:pPr>
              <a:spcAft>
                <a:spcPts val="400"/>
              </a:spcAft>
              <a:defRPr sz="1100" b="1">
                <a:solidFill>
                  <a:srgbClr val="0E74BC"/>
                </a:solidFill>
              </a:defRPr>
            </a:pPr>
            <a:r>
              <a:t>• Key Justifications: </a:t>
            </a:r>
            <a:r>
              <a:rPr b="0">
                <a:solidFill>
                  <a:srgbClr val="212529"/>
                </a:solidFill>
              </a:rPr>
              <a:t>Inherent handling of mixed data types, invariance to scaling, resistance to outliers, and high non-linear capacity.</a:t>
            </a:r>
          </a:p>
          <a:p>
            <a:pPr>
              <a:spcAft>
                <a:spcPts val="400"/>
              </a:spcAft>
              <a:defRPr sz="1100" b="1">
                <a:solidFill>
                  <a:srgbClr val="0E74BC"/>
                </a:solidFill>
              </a:defRPr>
            </a:pPr>
            <a:r>
              <a:t>• Operational Value: </a:t>
            </a:r>
            <a:r>
              <a:rPr b="0">
                <a:solidFill>
                  <a:srgbClr val="212529"/>
                </a:solidFill>
              </a:rPr>
              <a:t>Provides intrinsic feature importance rankings for network root cause diagnostics.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82B49"/>
          </a:solidFill>
          <a:ln>
            <a:solidFill>
              <a:srgbClr val="182B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1645920"/>
            <a:ext cx="9448495" cy="3657600"/>
          </a:xfrm>
          <a:prstGeom prst="rect">
            <a:avLst/>
          </a:prstGeom>
          <a:noFill/>
        </p:spPr>
        <p:txBody>
          <a:bodyPr wrap="square">
            <a:spAutoFit/>
          </a:bodyPr>
          <a:lstStyle/>
          <a:p>
            <a:pPr algn="ctr">
              <a:spcAft>
                <a:spcPts val="1600"/>
              </a:spcAft>
              <a:defRPr sz="1400" b="1">
                <a:solidFill>
                  <a:srgbClr val="10958C"/>
                </a:solidFill>
              </a:defRPr>
            </a:pPr>
            <a:r>
              <a:t>REVIEW 3 • CONCLUSION &amp; DEFENSE</a:t>
            </a:r>
          </a:p>
          <a:p>
            <a:pPr algn="ctr">
              <a:spcAft>
                <a:spcPts val="2000"/>
              </a:spcAft>
              <a:defRPr sz="3600" b="1">
                <a:solidFill>
                  <a:srgbClr val="FFFFFF"/>
                </a:solidFill>
              </a:defRPr>
            </a:pPr>
            <a:r>
              <a:t>Thank You! We are Ready for Q &amp; A</a:t>
            </a:r>
          </a:p>
          <a:p>
            <a:pPr algn="ctr">
              <a:spcAft>
                <a:spcPts val="2400"/>
              </a:spcAft>
              <a:defRPr sz="1600">
                <a:solidFill>
                  <a:srgbClr val="C8DCF0"/>
                </a:solidFill>
              </a:defRPr>
            </a:pPr>
            <a:r>
              <a:t>All code, pipeline scripts, pre-executed notebooks, and visualisations are fully verified and available.</a:t>
            </a:r>
          </a:p>
          <a:p>
            <a:pPr algn="ctr">
              <a:defRPr sz="1200">
                <a:solidFill>
                  <a:srgbClr val="A0B9D2"/>
                </a:solidFill>
              </a:defRPr>
            </a:pPr>
            <a:r>
              <a:t>Project Team: Presenter 1 (Sections 1 &amp; 2)  |  Presenter 2 (Section 3)  |  Presenter 3 (Section 4)  |  Presenter 4 (Sections 5 &amp; 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